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2"/>
  </p:notesMasterIdLst>
  <p:sldIdLst>
    <p:sldId id="256" r:id="rId2"/>
    <p:sldId id="313" r:id="rId3"/>
    <p:sldId id="309" r:id="rId4"/>
    <p:sldId id="275" r:id="rId5"/>
    <p:sldId id="277" r:id="rId6"/>
    <p:sldId id="261" r:id="rId7"/>
    <p:sldId id="281" r:id="rId8"/>
    <p:sldId id="291" r:id="rId9"/>
    <p:sldId id="282" r:id="rId10"/>
    <p:sldId id="283" r:id="rId11"/>
    <p:sldId id="284" r:id="rId12"/>
    <p:sldId id="285" r:id="rId13"/>
    <p:sldId id="286" r:id="rId14"/>
    <p:sldId id="287" r:id="rId15"/>
    <p:sldId id="288" r:id="rId16"/>
    <p:sldId id="289" r:id="rId17"/>
    <p:sldId id="290" r:id="rId18"/>
    <p:sldId id="292" r:id="rId19"/>
    <p:sldId id="303" r:id="rId20"/>
    <p:sldId id="257" r:id="rId21"/>
    <p:sldId id="293" r:id="rId22"/>
    <p:sldId id="258" r:id="rId23"/>
    <p:sldId id="295" r:id="rId24"/>
    <p:sldId id="296" r:id="rId25"/>
    <p:sldId id="297" r:id="rId26"/>
    <p:sldId id="298" r:id="rId27"/>
    <p:sldId id="304" r:id="rId28"/>
    <p:sldId id="260" r:id="rId29"/>
    <p:sldId id="310" r:id="rId30"/>
    <p:sldId id="262" r:id="rId31"/>
    <p:sldId id="263" r:id="rId32"/>
    <p:sldId id="312" r:id="rId33"/>
    <p:sldId id="305" r:id="rId34"/>
    <p:sldId id="306" r:id="rId35"/>
    <p:sldId id="264" r:id="rId36"/>
    <p:sldId id="307" r:id="rId37"/>
    <p:sldId id="265" r:id="rId38"/>
    <p:sldId id="302" r:id="rId39"/>
    <p:sldId id="259" r:id="rId40"/>
    <p:sldId id="294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Logging in" id="{286D0511-4436-324B-AFCB-CBCBCB46791C}">
          <p14:sldIdLst>
            <p14:sldId id="256"/>
            <p14:sldId id="313"/>
            <p14:sldId id="309"/>
            <p14:sldId id="275"/>
            <p14:sldId id="277"/>
            <p14:sldId id="261"/>
            <p14:sldId id="281"/>
            <p14:sldId id="29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2"/>
            <p14:sldId id="303"/>
          </p14:sldIdLst>
        </p14:section>
        <p14:section name="Slurm" id="{4A71A5F1-8CE4-A941-9AAA-5CE0A7FE0DE5}">
          <p14:sldIdLst>
            <p14:sldId id="257"/>
            <p14:sldId id="293"/>
            <p14:sldId id="258"/>
            <p14:sldId id="295"/>
            <p14:sldId id="296"/>
            <p14:sldId id="297"/>
            <p14:sldId id="298"/>
          </p14:sldIdLst>
        </p14:section>
        <p14:section name="different queues" id="{A5B95123-E103-F949-B8DD-AA61F87E35B5}">
          <p14:sldIdLst>
            <p14:sldId id="304"/>
            <p14:sldId id="260"/>
          </p14:sldIdLst>
        </p14:section>
        <p14:section name="Software" id="{AA0C938F-F3F6-E946-96F9-2DC8117B10E5}">
          <p14:sldIdLst>
            <p14:sldId id="310"/>
            <p14:sldId id="262"/>
            <p14:sldId id="263"/>
            <p14:sldId id="312"/>
            <p14:sldId id="305"/>
            <p14:sldId id="306"/>
            <p14:sldId id="264"/>
            <p14:sldId id="307"/>
          </p14:sldIdLst>
        </p14:section>
        <p14:section name="moving files" id="{5997F080-2395-9340-B7F1-F48F5000A678}">
          <p14:sldIdLst>
            <p14:sldId id="265"/>
            <p14:sldId id="302"/>
          </p14:sldIdLst>
        </p14:section>
        <p14:section name="Support and information" id="{D76436DA-986F-3E42-8A0E-090E6E87AD47}">
          <p14:sldIdLst>
            <p14:sldId id="259"/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5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3175514-0CBB-B448-ADB7-D83A9CE824B9}" v="2" dt="2025-10-09T09:20:39.01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37"/>
    <p:restoredTop sz="88027"/>
  </p:normalViewPr>
  <p:slideViewPr>
    <p:cSldViewPr snapToGrid="0">
      <p:cViewPr varScale="1">
        <p:scale>
          <a:sx n="112" d="100"/>
          <a:sy n="112" d="100"/>
        </p:scale>
        <p:origin x="84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ura Dean (staff)" userId="d8747312-ac52-4b4d-9ae4-1e15c3e0516b" providerId="ADAL" clId="{0A5FCBA3-0436-57F2-9A98-325546E6318B}"/>
    <pc:docChg chg="custSel addSld delSld modSld sldOrd delSection modSection">
      <pc:chgData name="Laura Dean (staff)" userId="d8747312-ac52-4b4d-9ae4-1e15c3e0516b" providerId="ADAL" clId="{0A5FCBA3-0436-57F2-9A98-325546E6318B}" dt="2025-10-09T09:21:14.100" v="114" actId="14100"/>
      <pc:docMkLst>
        <pc:docMk/>
      </pc:docMkLst>
      <pc:sldChg chg="del">
        <pc:chgData name="Laura Dean (staff)" userId="d8747312-ac52-4b4d-9ae4-1e15c3e0516b" providerId="ADAL" clId="{0A5FCBA3-0436-57F2-9A98-325546E6318B}" dt="2025-10-06T10:18:30.107" v="1" actId="2696"/>
        <pc:sldMkLst>
          <pc:docMk/>
          <pc:sldMk cId="503866127" sldId="266"/>
        </pc:sldMkLst>
      </pc:sldChg>
      <pc:sldChg chg="ord">
        <pc:chgData name="Laura Dean (staff)" userId="d8747312-ac52-4b4d-9ae4-1e15c3e0516b" providerId="ADAL" clId="{0A5FCBA3-0436-57F2-9A98-325546E6318B}" dt="2025-10-09T08:52:45.235" v="13" actId="20578"/>
        <pc:sldMkLst>
          <pc:docMk/>
          <pc:sldMk cId="2972566723" sldId="275"/>
        </pc:sldMkLst>
      </pc:sldChg>
      <pc:sldChg chg="del">
        <pc:chgData name="Laura Dean (staff)" userId="d8747312-ac52-4b4d-9ae4-1e15c3e0516b" providerId="ADAL" clId="{0A5FCBA3-0436-57F2-9A98-325546E6318B}" dt="2025-10-06T10:18:47.337" v="6" actId="2696"/>
        <pc:sldMkLst>
          <pc:docMk/>
          <pc:sldMk cId="3749462337" sldId="278"/>
        </pc:sldMkLst>
      </pc:sldChg>
      <pc:sldChg chg="del">
        <pc:chgData name="Laura Dean (staff)" userId="d8747312-ac52-4b4d-9ae4-1e15c3e0516b" providerId="ADAL" clId="{0A5FCBA3-0436-57F2-9A98-325546E6318B}" dt="2025-10-06T10:18:48.096" v="7" actId="2696"/>
        <pc:sldMkLst>
          <pc:docMk/>
          <pc:sldMk cId="1427272894" sldId="279"/>
        </pc:sldMkLst>
      </pc:sldChg>
      <pc:sldChg chg="del">
        <pc:chgData name="Laura Dean (staff)" userId="d8747312-ac52-4b4d-9ae4-1e15c3e0516b" providerId="ADAL" clId="{0A5FCBA3-0436-57F2-9A98-325546E6318B}" dt="2025-10-06T10:23:38.219" v="10" actId="2696"/>
        <pc:sldMkLst>
          <pc:docMk/>
          <pc:sldMk cId="2187301221" sldId="299"/>
        </pc:sldMkLst>
      </pc:sldChg>
      <pc:sldChg chg="del">
        <pc:chgData name="Laura Dean (staff)" userId="d8747312-ac52-4b4d-9ae4-1e15c3e0516b" providerId="ADAL" clId="{0A5FCBA3-0436-57F2-9A98-325546E6318B}" dt="2025-10-06T10:23:36.092" v="9" actId="2696"/>
        <pc:sldMkLst>
          <pc:docMk/>
          <pc:sldMk cId="788512635" sldId="301"/>
        </pc:sldMkLst>
      </pc:sldChg>
      <pc:sldChg chg="del">
        <pc:chgData name="Laura Dean (staff)" userId="d8747312-ac52-4b4d-9ae4-1e15c3e0516b" providerId="ADAL" clId="{0A5FCBA3-0436-57F2-9A98-325546E6318B}" dt="2025-10-06T10:21:32.083" v="8" actId="2696"/>
        <pc:sldMkLst>
          <pc:docMk/>
          <pc:sldMk cId="1091374398" sldId="308"/>
        </pc:sldMkLst>
      </pc:sldChg>
      <pc:sldChg chg="modSp mod">
        <pc:chgData name="Laura Dean (staff)" userId="d8747312-ac52-4b4d-9ae4-1e15c3e0516b" providerId="ADAL" clId="{0A5FCBA3-0436-57F2-9A98-325546E6318B}" dt="2025-10-06T10:18:01.582" v="0" actId="20577"/>
        <pc:sldMkLst>
          <pc:docMk/>
          <pc:sldMk cId="1839439955" sldId="309"/>
        </pc:sldMkLst>
        <pc:spChg chg="mod">
          <ac:chgData name="Laura Dean (staff)" userId="d8747312-ac52-4b4d-9ae4-1e15c3e0516b" providerId="ADAL" clId="{0A5FCBA3-0436-57F2-9A98-325546E6318B}" dt="2025-10-06T10:18:01.582" v="0" actId="20577"/>
          <ac:spMkLst>
            <pc:docMk/>
            <pc:sldMk cId="1839439955" sldId="309"/>
            <ac:spMk id="5" creationId="{E529853A-E964-7B9A-D5BC-B3B7075AC096}"/>
          </ac:spMkLst>
        </pc:spChg>
      </pc:sldChg>
      <pc:sldChg chg="modSp add mod">
        <pc:chgData name="Laura Dean (staff)" userId="d8747312-ac52-4b4d-9ae4-1e15c3e0516b" providerId="ADAL" clId="{0A5FCBA3-0436-57F2-9A98-325546E6318B}" dt="2025-10-09T09:21:14.100" v="114" actId="14100"/>
        <pc:sldMkLst>
          <pc:docMk/>
          <pc:sldMk cId="1517161138" sldId="313"/>
        </pc:sldMkLst>
        <pc:spChg chg="mod">
          <ac:chgData name="Laura Dean (staff)" userId="d8747312-ac52-4b4d-9ae4-1e15c3e0516b" providerId="ADAL" clId="{0A5FCBA3-0436-57F2-9A98-325546E6318B}" dt="2025-10-09T09:20:58.066" v="111" actId="1076"/>
          <ac:spMkLst>
            <pc:docMk/>
            <pc:sldMk cId="1517161138" sldId="313"/>
            <ac:spMk id="2" creationId="{C710A4FC-3C1C-5FCF-694F-F3286F802636}"/>
          </ac:spMkLst>
        </pc:spChg>
        <pc:spChg chg="mod">
          <ac:chgData name="Laura Dean (staff)" userId="d8747312-ac52-4b4d-9ae4-1e15c3e0516b" providerId="ADAL" clId="{0A5FCBA3-0436-57F2-9A98-325546E6318B}" dt="2025-10-09T09:21:14.100" v="114" actId="14100"/>
          <ac:spMkLst>
            <pc:docMk/>
            <pc:sldMk cId="1517161138" sldId="313"/>
            <ac:spMk id="5" creationId="{4B3F8C97-50B0-0ED6-7C76-A1CCC5154D72}"/>
          </ac:spMkLst>
        </pc:spChg>
      </pc:sldChg>
      <pc:sldChg chg="del">
        <pc:chgData name="Laura Dean (staff)" userId="d8747312-ac52-4b4d-9ae4-1e15c3e0516b" providerId="ADAL" clId="{0A5FCBA3-0436-57F2-9A98-325546E6318B}" dt="2025-10-06T10:18:45.806" v="5" actId="2696"/>
        <pc:sldMkLst>
          <pc:docMk/>
          <pc:sldMk cId="3640510485" sldId="313"/>
        </pc:sldMkLst>
      </pc:sldChg>
      <pc:sldChg chg="del">
        <pc:chgData name="Laura Dean (staff)" userId="d8747312-ac52-4b4d-9ae4-1e15c3e0516b" providerId="ADAL" clId="{0A5FCBA3-0436-57F2-9A98-325546E6318B}" dt="2025-10-06T10:18:42.956" v="4" actId="2696"/>
        <pc:sldMkLst>
          <pc:docMk/>
          <pc:sldMk cId="1352418762" sldId="314"/>
        </pc:sldMkLst>
      </pc:sldChg>
      <pc:sldChg chg="del">
        <pc:chgData name="Laura Dean (staff)" userId="d8747312-ac52-4b4d-9ae4-1e15c3e0516b" providerId="ADAL" clId="{0A5FCBA3-0436-57F2-9A98-325546E6318B}" dt="2025-10-06T10:18:31.450" v="2" actId="2696"/>
        <pc:sldMkLst>
          <pc:docMk/>
          <pc:sldMk cId="1864223598" sldId="315"/>
        </pc:sldMkLst>
      </pc:sldChg>
      <pc:sldChg chg="del">
        <pc:chgData name="Laura Dean (staff)" userId="d8747312-ac52-4b4d-9ae4-1e15c3e0516b" providerId="ADAL" clId="{0A5FCBA3-0436-57F2-9A98-325546E6318B}" dt="2025-10-06T10:18:33.824" v="3" actId="2696"/>
        <pc:sldMkLst>
          <pc:docMk/>
          <pc:sldMk cId="4241441155" sldId="31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946387-3DE6-A047-9929-F7D6E7284C24}" type="datetimeFigureOut">
              <a:rPr lang="en-US" smtClean="0"/>
              <a:t>10/9/25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44E78C-583C-4D47-AA52-A4329031AE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6984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44E78C-583C-4D47-AA52-A4329031AEE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0809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045E5-73AF-A03E-AE7A-A2FAA75D1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D9BCCE-BC71-6DAC-4D10-709AC6739E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E0EE15-8E70-13B9-494D-2C658EDE79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98D2F7-E928-E4F3-8F53-7E2C1122C4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44E78C-583C-4D47-AA52-A4329031AEE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9504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C2C15-1DEE-902E-6436-518E9054E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2B1B15-1DCB-99D4-4643-035B451E95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0FBCE5-E8CE-A66A-0249-4EA920F247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6121E8-BF5F-2B68-6A48-A85E122D2D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44E78C-583C-4D47-AA52-A4329031AEE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73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SLURM – Simple Linux Utility for Resource Management.</a:t>
            </a:r>
          </a:p>
          <a:p>
            <a:r>
              <a:rPr lang="en-US" dirty="0"/>
              <a:t>The software we use to run our HPC.</a:t>
            </a:r>
          </a:p>
          <a:p>
            <a:r>
              <a:rPr lang="en-US" dirty="0"/>
              <a:t>This is one reason why you need to be competent Unix users!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978604-55B0-5242-B3ED-8E8E0F5DD21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88644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AD208-AE4A-0F42-BDED-C499240B30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EA597D-E001-6F92-5754-3C0947900F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F11DEC-953C-C7FE-C219-43F42A86D2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E790CC-E998-EF95-D95B-7CD7945A51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44E78C-583C-4D47-AA52-A4329031AEE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3272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44E78C-583C-4D47-AA52-A4329031AEE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11877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98F4B-6B3D-4270-9104-35D068584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E84510-3221-1D59-E83D-081C11B54E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BEB50D-C832-EFDB-7C63-621977FDB1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AE8A35-99E1-14BF-9798-F5988D7F86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44E78C-583C-4D47-AA52-A4329031AEE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5448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386CF-1653-FC9A-3A48-652579F09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D9FE25-E975-E0D6-1C05-BA7972DDC4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FBDADB-C594-9A93-3835-0516A18B03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A6DCB9-5E2A-8D52-85E8-211702F840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44E78C-583C-4D47-AA52-A4329031AEE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4966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A81ECF-1D89-BD4F-94FE-99E50DBEF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7C86A1-AB55-EFC9-AF5A-B5C103A2C9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4F81E1-4383-829E-767F-686CB02F45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AC7149-E828-F22F-C879-8A30CD97BB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44E78C-583C-4D47-AA52-A4329031AEE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5793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17030-0C6A-30FA-9FD9-DF51D0CB2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18BE7F-97A1-16CB-4A8B-2FA9481F1F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333B5C-883A-C796-A8F4-7B7BC02962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B3AE2-B72C-BC08-0F6B-75CACE072B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44E78C-583C-4D47-AA52-A4329031AEE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506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765AFA-C0D7-DFE1-0429-9574B504D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DB16A2-7364-365D-A365-5DD52C8FB8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7891FA-FDBA-80F1-D231-E4AEE68608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0742-4D53-AA85-AAAD-0AC47C2470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44E78C-583C-4D47-AA52-A4329031AEE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5889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3ACF4-B5DE-D01B-266E-830CA0FBD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B2F4B4-3F11-0227-9D0A-119B278C31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117547-931E-5343-9741-A5F7961DE3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ACA489-0C2C-28D8-2CC0-637B8C5F65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44E78C-583C-4D47-AA52-A4329031AEE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2582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7A7FE-1195-4249-B2A7-9BC98866C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268B6F-81AC-490D-D726-7A875C094F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162FA5-15D6-D887-AD9C-81B9A5370F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EE7F3D-897E-647D-F603-93EE4C4084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44E78C-583C-4D47-AA52-A4329031AEE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06260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5A293-BBF6-77E9-FD8B-DECE02E3C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24236A-C67B-5113-0DEE-975DF1728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AE8265-8880-E1D0-B97B-CD7D6662A2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86F12B-1F27-60E4-B93F-2ADB76B38F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44E78C-583C-4D47-AA52-A4329031AEE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96512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148F5-579A-349A-15CE-9CFE9CC0A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C488C1-2421-E3B3-9106-568E99EBB9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7BDEFD-327A-9707-15EF-29866AB8BB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62E452-7F2D-0E8B-066F-6FF57B617C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44E78C-583C-4D47-AA52-A4329031AEE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596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EC0A9-E35C-01F7-10C5-B3870924C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D77725-C1C9-5930-7E3A-3E2C3F1616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ECB5B8-78E0-9FC4-1DF7-C349B51464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32FC36-F6E2-BA98-3511-8D30EA1480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44E78C-583C-4D47-AA52-A4329031AEE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4292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3F3BF-88F9-A436-4CD7-035A6339F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A7D1BC-51CA-45E2-27DE-5A16E92C2D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705D3E-358B-9486-0C01-542F39AC85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FDFFA8-E7EE-0101-C594-5DE8C8AAA6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44E78C-583C-4D47-AA52-A4329031AEE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847203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1B377-FC79-C492-E6F4-7C0C8711E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47F699-C8F4-049F-7041-5C0015C282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735543-5F6F-9013-8E7D-2405C4022C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B72469-D4BF-6ED5-1C50-48629BA39C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44E78C-583C-4D47-AA52-A4329031AEE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94618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90CC2-6E0C-B512-BA3E-3B32110D9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C8F5BA-1F0B-48E4-BF67-BD1743FF93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4FEA07-CF86-177C-0EE8-4A96DD59CF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708F13-DF68-6FA1-81D8-DDEB37E555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44E78C-583C-4D47-AA52-A4329031AEEE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75140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44E78C-583C-4D47-AA52-A4329031AEE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488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4088E-C312-65C7-A4F1-9D0E5737F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E023D1-6675-7E38-A6C4-7659505512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B68206-2185-B2BD-7B57-F24F144D8A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36D0E9-4B6F-305A-C4B1-6B93535038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44E78C-583C-4D47-AA52-A4329031AEEE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41694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2F72F7-C658-18F9-367D-5DAE84276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9547D1-1639-3F30-4AAD-FAE2B8348A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9DD303-40F3-240B-A477-F24208974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4A5E0A-08AA-4F32-5D0F-B475D6A138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44E78C-583C-4D47-AA52-A4329031AEEE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14087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AF411-3B78-205A-668D-85FC3B2FE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30A455-7202-69AC-1862-C3021053DA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718FBA-23D1-0EDB-847D-9D45BFDF30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794FF9-86D3-D16E-F7E3-D01C35CB8E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44E78C-583C-4D47-AA52-A4329031AEEE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82985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F3853D-7124-E9E5-DB1B-9D66F0218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03EE90-2ED4-8CC0-AAFA-C1A27A3B13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7F06C0-BED4-07BC-70C7-291ED7F1B8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C4BF17-98D3-95F0-A55A-96E2A6A72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44E78C-583C-4D47-AA52-A4329031AEEE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08023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2A27B-AB41-A4CC-F20C-1EB878C01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42979F-D176-754F-F5FE-5E9CC14E8E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5E8DED-34B6-0220-10AE-8B595A7A27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85A075-B1D3-006C-D77F-8BBD018CC2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44E78C-583C-4D47-AA52-A4329031AEEE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96992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7A2D7-0C53-96F9-AF2F-89AE5C90B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92E606-E0C8-F26B-B7F1-983E950C4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B40667-0449-2643-9DC5-AF60D15523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81E674-1134-3B27-0DD8-A083CE0952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44E78C-583C-4D47-AA52-A4329031AEEE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6111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Defq</a:t>
            </a:r>
            <a:r>
              <a:rPr lang="en-US" dirty="0"/>
              <a:t> is the one for accessing normal HPC nodes. This is probably the main queue you will want to use</a:t>
            </a:r>
          </a:p>
          <a:p>
            <a:r>
              <a:rPr lang="en-US" dirty="0"/>
              <a:t>If you need to run jobs with more than 361 GB memory e.g. genome assemblies you would use </a:t>
            </a:r>
            <a:r>
              <a:rPr lang="en-US" dirty="0" err="1"/>
              <a:t>hmemq</a:t>
            </a:r>
            <a:endParaRPr lang="en-US" dirty="0"/>
          </a:p>
          <a:p>
            <a:r>
              <a:rPr lang="en-US" dirty="0"/>
              <a:t>If you want access to GPU nodes use ampere</a:t>
            </a:r>
          </a:p>
          <a:p>
            <a:endParaRPr lang="en-US" dirty="0"/>
          </a:p>
          <a:p>
            <a:r>
              <a:rPr lang="en-US" dirty="0"/>
              <a:t>GPU – graphics processing Unit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44E78C-583C-4D47-AA52-A4329031AEEE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2298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Software on Ada must be loaded from environment modules</a:t>
            </a:r>
          </a:p>
          <a:p>
            <a:r>
              <a:rPr lang="en-US" dirty="0"/>
              <a:t>To list all available software use module avail</a:t>
            </a:r>
          </a:p>
          <a:p>
            <a:r>
              <a:rPr lang="en-US" dirty="0"/>
              <a:t>S by a module means the module is sticky and requires the –force flag to unload (you shouldn’t need to mess with these!</a:t>
            </a:r>
          </a:p>
          <a:p>
            <a:r>
              <a:rPr lang="en-US" dirty="0"/>
              <a:t>L by a module means the module is currently loaded</a:t>
            </a:r>
          </a:p>
          <a:p>
            <a:r>
              <a:rPr lang="en-US" dirty="0"/>
              <a:t>D by a module means this is the default version of the software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44E78C-583C-4D47-AA52-A4329031AEEE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83224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Software on Ada must be loaded from environment modules</a:t>
            </a:r>
          </a:p>
          <a:p>
            <a:r>
              <a:rPr lang="en-US" dirty="0"/>
              <a:t>To search for a specific software use module avail </a:t>
            </a:r>
            <a:r>
              <a:rPr lang="en-US" dirty="0" err="1"/>
              <a:t>software_name</a:t>
            </a:r>
            <a:endParaRPr lang="en-US" dirty="0"/>
          </a:p>
          <a:p>
            <a:r>
              <a:rPr lang="en-US" dirty="0"/>
              <a:t>To load modules use module load </a:t>
            </a:r>
            <a:r>
              <a:rPr lang="en-US" dirty="0" err="1"/>
              <a:t>module_name</a:t>
            </a:r>
            <a:endParaRPr lang="en-US" dirty="0"/>
          </a:p>
          <a:p>
            <a:r>
              <a:rPr lang="en-US" dirty="0"/>
              <a:t>To unload use module unload </a:t>
            </a:r>
            <a:r>
              <a:rPr lang="en-US" dirty="0" err="1"/>
              <a:t>module_name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44E78C-583C-4D47-AA52-A4329031AEEE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80076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11B63-26FF-64BF-93BA-278CB4A76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E7D2BA-A3C4-2439-A72B-376D73DE18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E29562-74C1-F743-F94D-3A47499711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Software on Ada must be loaded from environment modules</a:t>
            </a:r>
          </a:p>
          <a:p>
            <a:r>
              <a:rPr lang="en-US" dirty="0"/>
              <a:t>To search for a specific software use module avail </a:t>
            </a:r>
            <a:r>
              <a:rPr lang="en-US" dirty="0" err="1"/>
              <a:t>software_name</a:t>
            </a:r>
            <a:endParaRPr lang="en-US" dirty="0"/>
          </a:p>
          <a:p>
            <a:r>
              <a:rPr lang="en-US" dirty="0"/>
              <a:t>To load modules use module load </a:t>
            </a:r>
            <a:r>
              <a:rPr lang="en-US" dirty="0" err="1"/>
              <a:t>module_name</a:t>
            </a:r>
            <a:endParaRPr lang="en-US" dirty="0"/>
          </a:p>
          <a:p>
            <a:r>
              <a:rPr lang="en-US" dirty="0"/>
              <a:t>To unload use module unload </a:t>
            </a:r>
            <a:r>
              <a:rPr lang="en-US" dirty="0" err="1"/>
              <a:t>module_name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D93035-15E7-D88E-D254-3128909FF3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44E78C-583C-4D47-AA52-A4329031AEEE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308119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5EF24-837A-8E05-75A3-2591836BE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846E75-F7A6-2FA6-C138-30906833D2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534212-5102-213D-2248-34EE35F158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Software on Ada must be loaded from environment modules</a:t>
            </a:r>
          </a:p>
          <a:p>
            <a:r>
              <a:rPr lang="en-US" dirty="0"/>
              <a:t>To search for a specific software use module avail </a:t>
            </a:r>
            <a:r>
              <a:rPr lang="en-US" dirty="0" err="1"/>
              <a:t>software_name</a:t>
            </a:r>
            <a:endParaRPr lang="en-US" dirty="0"/>
          </a:p>
          <a:p>
            <a:r>
              <a:rPr lang="en-US" dirty="0"/>
              <a:t>To load modules use module load </a:t>
            </a:r>
            <a:r>
              <a:rPr lang="en-US" dirty="0" err="1"/>
              <a:t>module_name</a:t>
            </a:r>
            <a:endParaRPr lang="en-US" dirty="0"/>
          </a:p>
          <a:p>
            <a:r>
              <a:rPr lang="en-US" dirty="0"/>
              <a:t>To unload use module unload </a:t>
            </a:r>
            <a:r>
              <a:rPr lang="en-US" dirty="0" err="1"/>
              <a:t>module_name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4102B-78DD-6795-09FC-AD46D3DC0C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44E78C-583C-4D47-AA52-A4329031AEEE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9182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88210-ED88-1960-2912-02C4440A5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1FE5D6-FE26-6930-E2A7-497DAB12B8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459262-7003-B66B-2869-7D3C43E0B3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Software on Ada must be loaded from environment modules</a:t>
            </a:r>
          </a:p>
          <a:p>
            <a:r>
              <a:rPr lang="en-US" dirty="0"/>
              <a:t>To search for a specific software use module avail </a:t>
            </a:r>
            <a:r>
              <a:rPr lang="en-US" dirty="0" err="1"/>
              <a:t>software_name</a:t>
            </a:r>
            <a:endParaRPr lang="en-US" dirty="0"/>
          </a:p>
          <a:p>
            <a:r>
              <a:rPr lang="en-US" dirty="0"/>
              <a:t>To load modules use module load </a:t>
            </a:r>
            <a:r>
              <a:rPr lang="en-US" dirty="0" err="1"/>
              <a:t>module_name</a:t>
            </a:r>
            <a:endParaRPr lang="en-US" dirty="0"/>
          </a:p>
          <a:p>
            <a:r>
              <a:rPr lang="en-US" dirty="0"/>
              <a:t>To unload use module unload </a:t>
            </a:r>
            <a:r>
              <a:rPr lang="en-US" dirty="0" err="1"/>
              <a:t>module_name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1111AD-94FC-7125-2667-0E0468DE36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44E78C-583C-4D47-AA52-A4329031AEEE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810368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44E78C-583C-4D47-AA52-A4329031AEEE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82062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28632-9072-3AEA-49FB-5AE04091D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728928-1BF0-7048-A5E5-25E3BB83A9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F28FB4-5195-5C6D-69ED-826047200E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7AA3CC-1C71-EC00-EDEC-F6F22713E3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44E78C-583C-4D47-AA52-A4329031AEEE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11501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44E78C-583C-4D47-AA52-A4329031AEEE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75672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C375A-9DF4-DCC5-304B-D9DAC8F19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F257A7-7266-EE59-1262-6100B002AA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C7BAFA-2B01-4530-2D2C-F6B285CB5B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79CD30-50DE-6E8F-40BE-3B0FA250F2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44E78C-583C-4D47-AA52-A4329031AEEE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89894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44E78C-583C-4D47-AA52-A4329031AEEE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44956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660B9-ADE1-78D3-1B31-7F7E52DF3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E3CF70-E318-E5FD-0CD4-E301D7DD24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E5306-4080-B393-6A4A-A87F6DADD8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07EC68-9003-3698-128A-A6E139E79E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44E78C-583C-4D47-AA52-A4329031AEEE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0448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AAECD-A2AC-DEAB-91C5-D69EE11C06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D78D54-299C-B412-2A8B-A41BCC2BDF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FF191-2CE6-5C5C-6DD3-144BAD367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061E-8F2F-D342-BB88-8B219BD1F6BB}" type="datetimeFigureOut">
              <a:rPr lang="en-US" smtClean="0"/>
              <a:t>10/9/25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426273-CB16-CF10-F503-281850F4A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249D0-88F6-AE7B-D7DE-BE06A176E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DB5BD0-B2D0-604A-B295-FE35C37A77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273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2D95D-23C4-06C8-AB04-71C8FB283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EDB848-88F1-1F3E-3AB4-B7040D5D46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55A80-F341-2E26-42AE-E095F953C1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061E-8F2F-D342-BB88-8B219BD1F6BB}" type="datetimeFigureOut">
              <a:rPr lang="en-US" smtClean="0"/>
              <a:t>10/9/25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B296D-616F-742F-331B-21614EB99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513264-C77A-ED26-745C-C37354719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DB5BD0-B2D0-604A-B295-FE35C37A77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8149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9ABD7-9115-B75F-00F1-35E01709D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DF09A4-4706-01A4-7074-95020B3AAD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89EF77-3033-12D9-BF38-1CEED44F3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061E-8F2F-D342-BB88-8B219BD1F6BB}" type="datetimeFigureOut">
              <a:rPr lang="en-US" smtClean="0"/>
              <a:t>10/9/25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EE430F-C971-69FD-8D96-3221B8F7D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9E638D-F775-73A7-0334-B17FB2337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DB5BD0-B2D0-604A-B295-FE35C37A77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137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3E090-35EE-0D4C-04B6-BB486BE48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7FC36C-E8EC-9291-41B1-457D1CEBE40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E3949F-C4F6-3A02-30F8-4EA23C2AC0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EFA1E0-7556-9E97-A357-62B9656EB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061E-8F2F-D342-BB88-8B219BD1F6BB}" type="datetimeFigureOut">
              <a:rPr lang="en-US" smtClean="0"/>
              <a:t>10/9/25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4A1A7A-7C3B-42BA-BD92-C66DE6244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281D59-5D10-F3D1-FF1E-E6F7CC860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DB5BD0-B2D0-604A-B295-FE35C37A77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390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AA4CC-2B8E-6D53-1DC7-896FC6E864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004FDA-E44A-E66A-B6F6-16BDC2D7AA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C59909-67CF-EC8D-D725-B83B9C0BC9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C20D1E-9B8B-81AF-250B-7653FC1885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DA70157-F711-9299-13EC-EB4C908792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2AF8C0-1E62-DD94-12AC-F906BFCF5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061E-8F2F-D342-BB88-8B219BD1F6BB}" type="datetimeFigureOut">
              <a:rPr lang="en-US" smtClean="0"/>
              <a:t>10/9/25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B87A9FD-C17B-AEB7-D956-ABB78CFD4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1C730E1-DE07-FB58-256C-F9B04575F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DB5BD0-B2D0-604A-B295-FE35C37A77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880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9CB63-76E1-CFA1-9E45-F0D28A228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B65850F-C6E1-4223-01EF-8775433E5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061E-8F2F-D342-BB88-8B219BD1F6BB}" type="datetimeFigureOut">
              <a:rPr lang="en-US" smtClean="0"/>
              <a:t>10/9/25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D4CE44-4DCD-8C89-00D7-6183708AE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95B4EC-B851-F49B-09FD-064B056D6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DB5BD0-B2D0-604A-B295-FE35C37A77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6967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BDF56E-3F46-68F4-1C57-B361B32C3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061E-8F2F-D342-BB88-8B219BD1F6BB}" type="datetimeFigureOut">
              <a:rPr lang="en-US" smtClean="0"/>
              <a:t>10/9/25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D75FE3-A412-0DD5-80E8-7BF43D6F2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CE7E60-442A-2CB0-1585-BDF12DB76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DB5BD0-B2D0-604A-B295-FE35C37A77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002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91B8E-A787-7B00-9F0E-B0CF0954F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6C416D-A36C-3D33-4C3F-4A5D6BBEBE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6E9A10-4373-8881-3085-D9E08FC5E1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64430B-26D9-406D-F767-DA04B7772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061E-8F2F-D342-BB88-8B219BD1F6BB}" type="datetimeFigureOut">
              <a:rPr lang="en-US" smtClean="0"/>
              <a:t>10/9/25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FA6F6B-847E-A764-3F06-0CCBAF882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7212BA-0190-B6C3-4479-2E647F5AB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DB5BD0-B2D0-604A-B295-FE35C37A77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28606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D482C-695D-5D24-94B4-04118BF9A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A837C8-09C0-DFAA-6129-2521DD6182D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1C31D6-3F83-3B95-0B4A-7113954874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589105-B0A8-B232-4812-6A2F3791B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061E-8F2F-D342-BB88-8B219BD1F6BB}" type="datetimeFigureOut">
              <a:rPr lang="en-US" smtClean="0"/>
              <a:t>10/9/25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B253A9-634B-8CFC-48EE-B8E7CE794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491E9F-7EA8-9E33-255D-22F05707B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DB5BD0-B2D0-604A-B295-FE35C37A77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7808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D71E0-23E9-2403-B44F-D1F109F31B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8BEBE8-67D7-2E05-59D6-5B27D1C787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AB6D40-18A6-C4DF-E87B-622C7D5BD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061E-8F2F-D342-BB88-8B219BD1F6BB}" type="datetimeFigureOut">
              <a:rPr lang="en-US" smtClean="0"/>
              <a:t>10/9/25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D5DDCB-EA9C-C2CC-36DF-6D9AB86CA2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7CDE68-EA71-C84A-C6AD-442F6969D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DB5BD0-B2D0-604A-B295-FE35C37A77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8725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3B3A63-E8FF-FC00-8284-FFF987A4BE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752D9A-4FF0-9533-DF96-D5ACB22A4D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AC78FB-139D-2898-BADC-C34A26BF9B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061E-8F2F-D342-BB88-8B219BD1F6BB}" type="datetimeFigureOut">
              <a:rPr lang="en-US" smtClean="0"/>
              <a:t>10/9/25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4FB923-F66E-B673-008B-7CEF2482E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2385B6-F7EE-9D16-A536-778A15F62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DB5BD0-B2D0-604A-B295-FE35C37A77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468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99CC49-6420-F582-3CC2-588198694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221738-29B5-3736-4657-F180D9FCCA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1CF777-0034-B940-FE37-1FCA28592D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0B061E-8F2F-D342-BB88-8B219BD1F6BB}" type="datetimeFigureOut">
              <a:rPr lang="en-US" smtClean="0"/>
              <a:t>10/9/25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11D2EE-B5C8-5738-9BBE-0618B41975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F07C40-8495-88D9-FEBC-F4CF28719C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DB5BD0-B2D0-604A-B295-FE35C37A77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4534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hpcondemand01.ada.nottingham.ac.uk/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nottingham.ac.uk/dts/help/self-service-portal/self-service-portal.aspx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uniofnottm.sharepoint.com/sites/DigitalResearch/SitePages/Ada-Commands-Partitions-and-Resources.aspx" TargetMode="External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nottingham.ac.uk/dts/help/self-service-portal/self-service-portal.aspx" TargetMode="External"/><Relationship Id="rId5" Type="http://schemas.openxmlformats.org/officeDocument/2006/relationships/hyperlink" Target="mailto:laura.dean@nottingham.ac.uk" TargetMode="External"/><Relationship Id="rId4" Type="http://schemas.openxmlformats.org/officeDocument/2006/relationships/hyperlink" Target="https://uniofnottm.sharepoint.com/sites/DigitalResearch/SitePages/Ada-Compute-software.aspx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29" name="Rectangle 5128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24" name="Picture 4" descr="Ada Lovelace">
            <a:extLst>
              <a:ext uri="{FF2B5EF4-FFF2-40B4-BE49-F238E27FC236}">
                <a16:creationId xmlns:a16="http://schemas.microsoft.com/office/drawing/2014/main" id="{C0E446BF-EC68-B7C9-80C2-E92547646B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62" r="26646" b="8309"/>
          <a:stretch>
            <a:fillRect/>
          </a:stretch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31" name="Rectangle 513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7CE777-ABEB-6023-40DD-660DFBDCFE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4800">
                <a:solidFill>
                  <a:schemeClr val="bg1"/>
                </a:solidFill>
              </a:rPr>
              <a:t>How to use the UoN HPC “Ada”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EADD31-250A-669C-CA6F-536A910C5B4C}"/>
              </a:ext>
            </a:extLst>
          </p:cNvPr>
          <p:cNvSpPr txBox="1"/>
          <p:nvPr/>
        </p:nvSpPr>
        <p:spPr>
          <a:xfrm>
            <a:off x="477981" y="5026456"/>
            <a:ext cx="3045507" cy="7210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3200">
                <a:solidFill>
                  <a:schemeClr val="bg1"/>
                </a:solidFill>
              </a:rPr>
              <a:t>LIFE4138</a:t>
            </a:r>
          </a:p>
        </p:txBody>
      </p:sp>
      <p:sp>
        <p:nvSpPr>
          <p:cNvPr id="5133" name="Rectangle 513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135" name="Rectangle 513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70020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3A3AD-6155-A656-F920-FD1CDC6CB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0A4FC-3C1C-5FCF-694F-F3286F8026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1961" y="467791"/>
            <a:ext cx="10896598" cy="557441"/>
          </a:xfrm>
        </p:spPr>
        <p:txBody>
          <a:bodyPr>
            <a:noAutofit/>
          </a:bodyPr>
          <a:lstStyle/>
          <a:p>
            <a:r>
              <a:rPr lang="en-US" sz="3600" dirty="0"/>
              <a:t>First lets all get logged in and pull the </a:t>
            </a:r>
            <a:r>
              <a:rPr lang="en-US" sz="3600" dirty="0" err="1"/>
              <a:t>github</a:t>
            </a:r>
            <a:r>
              <a:rPr lang="en-US" sz="3600" dirty="0"/>
              <a:t> repo to Ada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3F8C97-50B0-0ED6-7C76-A1CCC5154D72}"/>
              </a:ext>
            </a:extLst>
          </p:cNvPr>
          <p:cNvSpPr txBox="1"/>
          <p:nvPr/>
        </p:nvSpPr>
        <p:spPr>
          <a:xfrm>
            <a:off x="228600" y="2459286"/>
            <a:ext cx="11963400" cy="1701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atin typeface="Aptos Mono" panose="020B0009020202020204" pitchFamily="49" charset="0"/>
              </a:rPr>
              <a:t>ssh </a:t>
            </a:r>
            <a:r>
              <a:rPr lang="en-US" sz="2400" dirty="0" err="1">
                <a:latin typeface="Aptos Mono" panose="020B0009020202020204" pitchFamily="49" charset="0"/>
              </a:rPr>
              <a:t>ada</a:t>
            </a:r>
            <a:endParaRPr lang="en-US" sz="2400" dirty="0">
              <a:latin typeface="Aptos Mono" panose="020B0009020202020204" pitchFamily="49" charset="0"/>
            </a:endParaRPr>
          </a:p>
          <a:p>
            <a:pPr>
              <a:lnSpc>
                <a:spcPct val="150000"/>
              </a:lnSpc>
            </a:pPr>
            <a:endParaRPr lang="en-US" sz="2400" dirty="0">
              <a:latin typeface="Aptos Mono" panose="020B000902020202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latin typeface="Aptos Mono" panose="020B0009020202020204" pitchFamily="49" charset="0"/>
              </a:rPr>
              <a:t>git clone https://</a:t>
            </a:r>
            <a:r>
              <a:rPr lang="en-US" sz="2400" dirty="0" err="1">
                <a:latin typeface="Aptos Mono" panose="020B0009020202020204" pitchFamily="49" charset="0"/>
              </a:rPr>
              <a:t>github.com</a:t>
            </a:r>
            <a:r>
              <a:rPr lang="en-US" sz="2400" dirty="0">
                <a:latin typeface="Aptos Mono" panose="020B0009020202020204" pitchFamily="49" charset="0"/>
              </a:rPr>
              <a:t>/</a:t>
            </a:r>
            <a:r>
              <a:rPr lang="en-US" sz="2400" dirty="0" err="1">
                <a:latin typeface="Aptos Mono" panose="020B0009020202020204" pitchFamily="49" charset="0"/>
              </a:rPr>
              <a:t>BioinformaticsMSc</a:t>
            </a:r>
            <a:r>
              <a:rPr lang="en-US" sz="2400" dirty="0">
                <a:latin typeface="Aptos Mono" panose="020B0009020202020204" pitchFamily="49" charset="0"/>
              </a:rPr>
              <a:t>/LIFE4138_2526.git</a:t>
            </a:r>
          </a:p>
        </p:txBody>
      </p:sp>
    </p:spTree>
    <p:extLst>
      <p:ext uri="{BB962C8B-B14F-4D97-AF65-F5344CB8AC3E}">
        <p14:creationId xmlns:p14="http://schemas.microsoft.com/office/powerpoint/2010/main" val="15171611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1E3B7-9420-C6EC-E715-63091610D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4C88C-FFC5-B020-42A3-661BBE0075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8" y="502081"/>
            <a:ext cx="9144000" cy="557441"/>
          </a:xfrm>
        </p:spPr>
        <p:txBody>
          <a:bodyPr>
            <a:noAutofit/>
          </a:bodyPr>
          <a:lstStyle/>
          <a:p>
            <a:r>
              <a:rPr lang="en-US" sz="3600" dirty="0"/>
              <a:t>Learning Objectives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29853A-E964-7B9A-D5BC-B3B7075AC096}"/>
              </a:ext>
            </a:extLst>
          </p:cNvPr>
          <p:cNvSpPr txBox="1"/>
          <p:nvPr/>
        </p:nvSpPr>
        <p:spPr>
          <a:xfrm>
            <a:off x="1224342" y="1739196"/>
            <a:ext cx="10147077" cy="33630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Know how to write a job submission script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Know how to submit and manage a job using basic </a:t>
            </a:r>
            <a:r>
              <a:rPr lang="en-US" sz="2400" dirty="0" err="1"/>
              <a:t>slurm</a:t>
            </a:r>
            <a:r>
              <a:rPr lang="en-US" sz="2400" dirty="0"/>
              <a:t> commands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Know how to request an interactive job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Know how to access software on the HPC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Know how to copy files between the HPC and your local machine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Know where to go for further support</a:t>
            </a:r>
          </a:p>
        </p:txBody>
      </p:sp>
    </p:spTree>
    <p:extLst>
      <p:ext uri="{BB962C8B-B14F-4D97-AF65-F5344CB8AC3E}">
        <p14:creationId xmlns:p14="http://schemas.microsoft.com/office/powerpoint/2010/main" val="18394399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7C29B-4FF8-AE43-AB2B-C9A96454FE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091237"/>
            <a:ext cx="10515600" cy="553403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https://</a:t>
            </a:r>
            <a:r>
              <a:rPr lang="en-US" dirty="0" err="1"/>
              <a:t>slurm.schedmd.com</a:t>
            </a:r>
            <a:r>
              <a:rPr lang="en-US" dirty="0"/>
              <a:t>/</a:t>
            </a:r>
            <a:r>
              <a:rPr lang="en-US" dirty="0" err="1"/>
              <a:t>documentation.html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20482" name="Picture 2" descr="Slurm Workload Manager - Wikipedia">
            <a:extLst>
              <a:ext uri="{FF2B5EF4-FFF2-40B4-BE49-F238E27FC236}">
                <a16:creationId xmlns:a16="http://schemas.microsoft.com/office/drawing/2014/main" id="{C856A0BC-47EF-EF4B-B140-91A463D8C9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6547" y="213360"/>
            <a:ext cx="4819247" cy="4409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0A9EF8D-7BB0-081A-DCAF-DEA985BF3554}"/>
              </a:ext>
            </a:extLst>
          </p:cNvPr>
          <p:cNvSpPr txBox="1"/>
          <p:nvPr/>
        </p:nvSpPr>
        <p:spPr>
          <a:xfrm>
            <a:off x="3207327" y="4987917"/>
            <a:ext cx="62553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SLURM – Simple Linux Utility for Resource Management</a:t>
            </a:r>
          </a:p>
        </p:txBody>
      </p:sp>
    </p:spTree>
    <p:extLst>
      <p:ext uri="{BB962C8B-B14F-4D97-AF65-F5344CB8AC3E}">
        <p14:creationId xmlns:p14="http://schemas.microsoft.com/office/powerpoint/2010/main" val="29725667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B014D9-B810-6869-75D7-3CC3E05D4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89162-11F1-482C-2607-04CC668712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5695"/>
            <a:ext cx="9144000" cy="557441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How to use Ada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42794D-40B8-C931-64A0-722898F4304C}"/>
              </a:ext>
            </a:extLst>
          </p:cNvPr>
          <p:cNvSpPr txBox="1"/>
          <p:nvPr/>
        </p:nvSpPr>
        <p:spPr>
          <a:xfrm>
            <a:off x="1593552" y="1278648"/>
            <a:ext cx="10281771" cy="3917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ssh to login to a login node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submit jobs to compute nodes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OR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 err="1"/>
              <a:t>srun</a:t>
            </a:r>
            <a:r>
              <a:rPr lang="en-US" sz="2400" dirty="0"/>
              <a:t> for interactive job on compute node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OR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 err="1"/>
              <a:t>OpenOnDemand</a:t>
            </a:r>
            <a:r>
              <a:rPr lang="en-US" sz="2400" dirty="0"/>
              <a:t> – </a:t>
            </a:r>
            <a:r>
              <a:rPr lang="en-US" sz="2400" dirty="0" err="1"/>
              <a:t>vnc</a:t>
            </a:r>
            <a:r>
              <a:rPr lang="en-US" sz="2400" dirty="0"/>
              <a:t> session: super useful if you want to use a GUI (graphical user interface)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31AD013-E150-5D26-92FB-D81A1B43FA94}"/>
              </a:ext>
            </a:extLst>
          </p:cNvPr>
          <p:cNvSpPr/>
          <p:nvPr/>
        </p:nvSpPr>
        <p:spPr>
          <a:xfrm>
            <a:off x="201882" y="1278648"/>
            <a:ext cx="7208320" cy="1250796"/>
          </a:xfrm>
          <a:prstGeom prst="rect">
            <a:avLst/>
          </a:prstGeom>
          <a:solidFill>
            <a:schemeClr val="accent1">
              <a:alpha val="47461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D6DBC0F-013B-DB54-BB24-AEABCD6CECC9}"/>
              </a:ext>
            </a:extLst>
          </p:cNvPr>
          <p:cNvCxnSpPr>
            <a:cxnSpLocks/>
          </p:cNvCxnSpPr>
          <p:nvPr/>
        </p:nvCxnSpPr>
        <p:spPr>
          <a:xfrm flipH="1">
            <a:off x="7606135" y="1878279"/>
            <a:ext cx="61159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75E9778F-D2F2-D94F-91E8-E7B17BD89390}"/>
              </a:ext>
            </a:extLst>
          </p:cNvPr>
          <p:cNvSpPr txBox="1"/>
          <p:nvPr/>
        </p:nvSpPr>
        <p:spPr>
          <a:xfrm>
            <a:off x="8501903" y="1454257"/>
            <a:ext cx="272593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Major bonus, you can logout of Ada and your job is still running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6259AB-04F5-B28A-9312-0A1916057B52}"/>
              </a:ext>
            </a:extLst>
          </p:cNvPr>
          <p:cNvSpPr txBox="1"/>
          <p:nvPr/>
        </p:nvSpPr>
        <p:spPr>
          <a:xfrm>
            <a:off x="495765" y="1524336"/>
            <a:ext cx="4587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EF18B7-8806-E8F1-69CD-2C10E28346D0}"/>
              </a:ext>
            </a:extLst>
          </p:cNvPr>
          <p:cNvSpPr txBox="1"/>
          <p:nvPr/>
        </p:nvSpPr>
        <p:spPr>
          <a:xfrm>
            <a:off x="495765" y="2883222"/>
            <a:ext cx="4587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4FBAAA-64B1-D41D-A446-A2CB2AEEA24C}"/>
              </a:ext>
            </a:extLst>
          </p:cNvPr>
          <p:cNvSpPr txBox="1"/>
          <p:nvPr/>
        </p:nvSpPr>
        <p:spPr>
          <a:xfrm>
            <a:off x="495765" y="4271836"/>
            <a:ext cx="4587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224602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CE777-ABEB-6023-40DD-660DFBDCFE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4143"/>
            <a:ext cx="9144000" cy="557441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Every job needs a job submission script: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4CB168-3B29-C594-7663-7AE634CD3055}"/>
              </a:ext>
            </a:extLst>
          </p:cNvPr>
          <p:cNvSpPr txBox="1"/>
          <p:nvPr/>
        </p:nvSpPr>
        <p:spPr>
          <a:xfrm>
            <a:off x="464652" y="1343888"/>
            <a:ext cx="6504183" cy="4801314"/>
          </a:xfrm>
          <a:prstGeom prst="rect">
            <a:avLst/>
          </a:prstGeom>
          <a:solidFill>
            <a:schemeClr val="accent1">
              <a:alpha val="16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#!/bin/bash</a:t>
            </a:r>
          </a:p>
          <a:p>
            <a:endParaRPr lang="en-US" dirty="0"/>
          </a:p>
          <a:p>
            <a:r>
              <a:rPr lang="en-US" dirty="0"/>
              <a:t>#SBATCH --partition=</a:t>
            </a:r>
            <a:r>
              <a:rPr lang="en-US" dirty="0" err="1"/>
              <a:t>defq</a:t>
            </a:r>
            <a:endParaRPr lang="en-US" dirty="0"/>
          </a:p>
          <a:p>
            <a:r>
              <a:rPr lang="en-US" dirty="0"/>
              <a:t>#SBATCH --nodes=1</a:t>
            </a:r>
          </a:p>
          <a:p>
            <a:r>
              <a:rPr lang="en-US" dirty="0"/>
              <a:t>#SBATCH --</a:t>
            </a:r>
            <a:r>
              <a:rPr lang="en-US" dirty="0" err="1"/>
              <a:t>ntasks</a:t>
            </a:r>
            <a:r>
              <a:rPr lang="en-US" dirty="0"/>
              <a:t>=1</a:t>
            </a:r>
          </a:p>
          <a:p>
            <a:r>
              <a:rPr lang="en-US" dirty="0"/>
              <a:t>#SBATCH --</a:t>
            </a:r>
            <a:r>
              <a:rPr lang="en-US" dirty="0" err="1"/>
              <a:t>cpus</a:t>
            </a:r>
            <a:r>
              <a:rPr lang="en-US" dirty="0"/>
              <a:t>-per-task=8</a:t>
            </a:r>
          </a:p>
          <a:p>
            <a:r>
              <a:rPr lang="en-US" dirty="0"/>
              <a:t>#SBATCH --mem=5g</a:t>
            </a:r>
          </a:p>
          <a:p>
            <a:r>
              <a:rPr lang="en-US" dirty="0"/>
              <a:t>#SBATCH --time=00:10:00</a:t>
            </a:r>
          </a:p>
          <a:p>
            <a:r>
              <a:rPr lang="en-US" dirty="0"/>
              <a:t>#SBATCH --job-name=</a:t>
            </a:r>
            <a:r>
              <a:rPr lang="en-US" dirty="0" err="1"/>
              <a:t>my_job</a:t>
            </a:r>
            <a:endParaRPr lang="en-US" dirty="0"/>
          </a:p>
          <a:p>
            <a:r>
              <a:rPr lang="en-US" dirty="0"/>
              <a:t>#SBATCH --output=/gpfs01/home/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/>
              <a:t>/</a:t>
            </a:r>
            <a:r>
              <a:rPr lang="en-US" dirty="0" err="1"/>
              <a:t>slurm</a:t>
            </a:r>
            <a:r>
              <a:rPr lang="en-US" dirty="0"/>
              <a:t>-%x-%</a:t>
            </a:r>
            <a:r>
              <a:rPr lang="en-US" dirty="0" err="1"/>
              <a:t>j.out</a:t>
            </a:r>
            <a:endParaRPr lang="en-US" dirty="0"/>
          </a:p>
          <a:p>
            <a:r>
              <a:rPr lang="en-US" dirty="0"/>
              <a:t>#SBATCH --error=/gpfs01/home/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/>
              <a:t>/</a:t>
            </a:r>
            <a:r>
              <a:rPr lang="en-US" dirty="0" err="1"/>
              <a:t>slurm</a:t>
            </a:r>
            <a:r>
              <a:rPr lang="en-US" dirty="0"/>
              <a:t>-%x-%</a:t>
            </a:r>
            <a:r>
              <a:rPr lang="en-US" dirty="0" err="1"/>
              <a:t>j.err</a:t>
            </a:r>
            <a:endParaRPr lang="en-US" dirty="0"/>
          </a:p>
          <a:p>
            <a:r>
              <a:rPr lang="en-US" dirty="0"/>
              <a:t>#SBATCH --mail-type=ALL</a:t>
            </a:r>
          </a:p>
          <a:p>
            <a:r>
              <a:rPr lang="en-US" dirty="0"/>
              <a:t>#SBATCH --mail-user=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 err="1"/>
              <a:t>@exmail.nottingham.ac.uk</a:t>
            </a:r>
            <a:endParaRPr lang="en-US" dirty="0"/>
          </a:p>
          <a:p>
            <a:endParaRPr lang="en-US" dirty="0"/>
          </a:p>
          <a:p>
            <a:r>
              <a:rPr lang="en-US" dirty="0"/>
              <a:t># Write out a test file to check our job ran</a:t>
            </a:r>
          </a:p>
          <a:p>
            <a:r>
              <a:rPr lang="en-US" dirty="0"/>
              <a:t>echo “hello world” &gt; ~/</a:t>
            </a:r>
            <a:r>
              <a:rPr lang="en-US" dirty="0" err="1"/>
              <a:t>our_test_output.txt</a:t>
            </a:r>
            <a:endParaRPr lang="en-US" dirty="0"/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B1C4CC-3309-AF1D-FFCB-8D0567E82DCD}"/>
              </a:ext>
            </a:extLst>
          </p:cNvPr>
          <p:cNvSpPr txBox="1"/>
          <p:nvPr/>
        </p:nvSpPr>
        <p:spPr>
          <a:xfrm>
            <a:off x="430009" y="923142"/>
            <a:ext cx="3286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 job submission script: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2478CBB-CCBD-92A5-63A2-A0A36555BFD7}"/>
              </a:ext>
            </a:extLst>
          </p:cNvPr>
          <p:cNvSpPr txBox="1"/>
          <p:nvPr/>
        </p:nvSpPr>
        <p:spPr>
          <a:xfrm>
            <a:off x="430009" y="6418830"/>
            <a:ext cx="115680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NOTE: My username is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sz="1600" dirty="0"/>
              <a:t> – where you see this in the scripts you will need to replace it with your own university username</a:t>
            </a:r>
          </a:p>
        </p:txBody>
      </p:sp>
    </p:spTree>
    <p:extLst>
      <p:ext uri="{BB962C8B-B14F-4D97-AF65-F5344CB8AC3E}">
        <p14:creationId xmlns:p14="http://schemas.microsoft.com/office/powerpoint/2010/main" val="38232436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CBFB4-82C8-5A1E-0DFA-CC5067A1E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34E33-D003-F2B7-B0A0-016564359E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4143"/>
            <a:ext cx="9144000" cy="557441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Every job needs a job submission script: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EFFF32-286A-DD58-A162-4771860D94E5}"/>
              </a:ext>
            </a:extLst>
          </p:cNvPr>
          <p:cNvSpPr txBox="1"/>
          <p:nvPr/>
        </p:nvSpPr>
        <p:spPr>
          <a:xfrm>
            <a:off x="464652" y="1343888"/>
            <a:ext cx="6504183" cy="4801314"/>
          </a:xfrm>
          <a:prstGeom prst="rect">
            <a:avLst/>
          </a:prstGeom>
          <a:solidFill>
            <a:schemeClr val="accent1">
              <a:alpha val="16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#!/bin/bash</a:t>
            </a:r>
          </a:p>
          <a:p>
            <a:endParaRPr lang="en-US" dirty="0"/>
          </a:p>
          <a:p>
            <a:r>
              <a:rPr lang="en-US" dirty="0"/>
              <a:t>#SBATCH --partition=</a:t>
            </a:r>
            <a:r>
              <a:rPr lang="en-US" dirty="0" err="1"/>
              <a:t>defq</a:t>
            </a:r>
            <a:endParaRPr lang="en-US" dirty="0"/>
          </a:p>
          <a:p>
            <a:r>
              <a:rPr lang="en-US" dirty="0"/>
              <a:t>#SBATCH --nodes=1</a:t>
            </a:r>
          </a:p>
          <a:p>
            <a:r>
              <a:rPr lang="en-US" dirty="0"/>
              <a:t>#SBATCH --</a:t>
            </a:r>
            <a:r>
              <a:rPr lang="en-US" dirty="0" err="1"/>
              <a:t>ntasks</a:t>
            </a:r>
            <a:r>
              <a:rPr lang="en-US" dirty="0"/>
              <a:t>=1</a:t>
            </a:r>
          </a:p>
          <a:p>
            <a:r>
              <a:rPr lang="en-US" dirty="0"/>
              <a:t>#SBATCH --</a:t>
            </a:r>
            <a:r>
              <a:rPr lang="en-US" dirty="0" err="1"/>
              <a:t>cpus</a:t>
            </a:r>
            <a:r>
              <a:rPr lang="en-US" dirty="0"/>
              <a:t>-per-task=8</a:t>
            </a:r>
          </a:p>
          <a:p>
            <a:r>
              <a:rPr lang="en-US" dirty="0"/>
              <a:t>#SBATCH --mem=5g</a:t>
            </a:r>
          </a:p>
          <a:p>
            <a:r>
              <a:rPr lang="en-US" dirty="0"/>
              <a:t>#SBATCH --time=00:10:00</a:t>
            </a:r>
          </a:p>
          <a:p>
            <a:r>
              <a:rPr lang="en-US" dirty="0"/>
              <a:t>#SBATCH --job-name=</a:t>
            </a:r>
            <a:r>
              <a:rPr lang="en-US" dirty="0" err="1"/>
              <a:t>my_job</a:t>
            </a:r>
            <a:endParaRPr lang="en-US" dirty="0"/>
          </a:p>
          <a:p>
            <a:r>
              <a:rPr lang="en-US" dirty="0"/>
              <a:t>#SBATCH --output=/gpfs01/home/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/>
              <a:t>/</a:t>
            </a:r>
            <a:r>
              <a:rPr lang="en-US" dirty="0" err="1"/>
              <a:t>slurm</a:t>
            </a:r>
            <a:r>
              <a:rPr lang="en-US" dirty="0"/>
              <a:t>-%x-%</a:t>
            </a:r>
            <a:r>
              <a:rPr lang="en-US" dirty="0" err="1"/>
              <a:t>j.out</a:t>
            </a:r>
            <a:endParaRPr lang="en-US" dirty="0"/>
          </a:p>
          <a:p>
            <a:r>
              <a:rPr lang="en-US" dirty="0"/>
              <a:t>#SBATCH --error=/gpfs01/home/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/>
              <a:t>/</a:t>
            </a:r>
            <a:r>
              <a:rPr lang="en-US" dirty="0" err="1"/>
              <a:t>slurm</a:t>
            </a:r>
            <a:r>
              <a:rPr lang="en-US" dirty="0"/>
              <a:t>-%x-%</a:t>
            </a:r>
            <a:r>
              <a:rPr lang="en-US" dirty="0" err="1"/>
              <a:t>j.err</a:t>
            </a:r>
            <a:endParaRPr lang="en-US" dirty="0"/>
          </a:p>
          <a:p>
            <a:r>
              <a:rPr lang="en-US" dirty="0"/>
              <a:t>#SBATCH --mail-type=ALL</a:t>
            </a:r>
          </a:p>
          <a:p>
            <a:r>
              <a:rPr lang="en-US" dirty="0"/>
              <a:t>#SBATCH --mail-user=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 err="1"/>
              <a:t>@exmail.nottingham.ac.uk</a:t>
            </a:r>
            <a:endParaRPr lang="en-US" dirty="0"/>
          </a:p>
          <a:p>
            <a:endParaRPr lang="en-US" dirty="0"/>
          </a:p>
          <a:p>
            <a:r>
              <a:rPr lang="en-US" dirty="0"/>
              <a:t># Write out a test file to check our job ran</a:t>
            </a:r>
          </a:p>
          <a:p>
            <a:r>
              <a:rPr lang="en-US" dirty="0"/>
              <a:t>echo “hello world” &gt; ~/</a:t>
            </a:r>
            <a:r>
              <a:rPr lang="en-US" dirty="0" err="1"/>
              <a:t>our_test_output.txt</a:t>
            </a:r>
            <a:endParaRPr lang="en-US" dirty="0"/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9E63E9-E862-7669-581C-9EF3CCA26A39}"/>
              </a:ext>
            </a:extLst>
          </p:cNvPr>
          <p:cNvSpPr txBox="1"/>
          <p:nvPr/>
        </p:nvSpPr>
        <p:spPr>
          <a:xfrm>
            <a:off x="430009" y="923142"/>
            <a:ext cx="3286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 job submission script: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9D95E8-95BB-177D-6DBF-495638D80A3E}"/>
              </a:ext>
            </a:extLst>
          </p:cNvPr>
          <p:cNvSpPr txBox="1"/>
          <p:nvPr/>
        </p:nvSpPr>
        <p:spPr>
          <a:xfrm>
            <a:off x="430009" y="6418830"/>
            <a:ext cx="115680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NOTE: My username is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sz="1600" dirty="0"/>
              <a:t> – where you see this in the scripts you will need to replace it with your own university username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A71880-5C03-E756-7A19-49B330D7D3C7}"/>
              </a:ext>
            </a:extLst>
          </p:cNvPr>
          <p:cNvSpPr/>
          <p:nvPr/>
        </p:nvSpPr>
        <p:spPr>
          <a:xfrm>
            <a:off x="249382" y="1343889"/>
            <a:ext cx="3467361" cy="332509"/>
          </a:xfrm>
          <a:prstGeom prst="rect">
            <a:avLst/>
          </a:prstGeom>
          <a:solidFill>
            <a:schemeClr val="accent1">
              <a:alpha val="42761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9F04BE-05B5-5CFA-3935-32183FC7D0C4}"/>
              </a:ext>
            </a:extLst>
          </p:cNvPr>
          <p:cNvSpPr txBox="1"/>
          <p:nvPr/>
        </p:nvSpPr>
        <p:spPr>
          <a:xfrm>
            <a:off x="7561376" y="1898073"/>
            <a:ext cx="360538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#!/bin/bash</a:t>
            </a:r>
          </a:p>
          <a:p>
            <a:endParaRPr lang="en-US" dirty="0"/>
          </a:p>
          <a:p>
            <a:r>
              <a:rPr lang="en-US" dirty="0"/>
              <a:t>The shebang – tells the operating system which interpreter to use to when executing the script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24213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F39D1-D34F-9198-B459-381EADC9E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60DE1-5154-F3FE-94EF-76D50B71EF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4143"/>
            <a:ext cx="9144000" cy="557441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Every job needs a job submission script: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CD8D17-980E-7126-0C31-235F30F34260}"/>
              </a:ext>
            </a:extLst>
          </p:cNvPr>
          <p:cNvSpPr txBox="1"/>
          <p:nvPr/>
        </p:nvSpPr>
        <p:spPr>
          <a:xfrm>
            <a:off x="464652" y="1343888"/>
            <a:ext cx="6504183" cy="4801314"/>
          </a:xfrm>
          <a:prstGeom prst="rect">
            <a:avLst/>
          </a:prstGeom>
          <a:solidFill>
            <a:schemeClr val="accent1">
              <a:alpha val="16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#!/bin/bash</a:t>
            </a:r>
          </a:p>
          <a:p>
            <a:endParaRPr lang="en-US" dirty="0"/>
          </a:p>
          <a:p>
            <a:r>
              <a:rPr lang="en-US" dirty="0"/>
              <a:t>#SBATCH --partition=</a:t>
            </a:r>
            <a:r>
              <a:rPr lang="en-US" dirty="0" err="1"/>
              <a:t>defq</a:t>
            </a:r>
            <a:endParaRPr lang="en-US" dirty="0"/>
          </a:p>
          <a:p>
            <a:r>
              <a:rPr lang="en-US" dirty="0"/>
              <a:t>#SBATCH --nodes=1</a:t>
            </a:r>
          </a:p>
          <a:p>
            <a:r>
              <a:rPr lang="en-US" dirty="0"/>
              <a:t>#SBATCH --</a:t>
            </a:r>
            <a:r>
              <a:rPr lang="en-US" dirty="0" err="1"/>
              <a:t>ntasks</a:t>
            </a:r>
            <a:r>
              <a:rPr lang="en-US" dirty="0"/>
              <a:t>=1</a:t>
            </a:r>
          </a:p>
          <a:p>
            <a:r>
              <a:rPr lang="en-US" dirty="0"/>
              <a:t>#SBATCH --</a:t>
            </a:r>
            <a:r>
              <a:rPr lang="en-US" dirty="0" err="1"/>
              <a:t>cpus</a:t>
            </a:r>
            <a:r>
              <a:rPr lang="en-US" dirty="0"/>
              <a:t>-per-task=8</a:t>
            </a:r>
          </a:p>
          <a:p>
            <a:r>
              <a:rPr lang="en-US" dirty="0"/>
              <a:t>#SBATCH --mem=5g</a:t>
            </a:r>
          </a:p>
          <a:p>
            <a:r>
              <a:rPr lang="en-US" dirty="0"/>
              <a:t>#SBATCH --time=00:10:00</a:t>
            </a:r>
          </a:p>
          <a:p>
            <a:r>
              <a:rPr lang="en-US" dirty="0"/>
              <a:t>#SBATCH --job-name=</a:t>
            </a:r>
            <a:r>
              <a:rPr lang="en-US" dirty="0" err="1"/>
              <a:t>my_job</a:t>
            </a:r>
            <a:endParaRPr lang="en-US" dirty="0"/>
          </a:p>
          <a:p>
            <a:r>
              <a:rPr lang="en-US" dirty="0"/>
              <a:t>#SBATCH --output=/gpfs01/home/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/>
              <a:t>/</a:t>
            </a:r>
            <a:r>
              <a:rPr lang="en-US" dirty="0" err="1"/>
              <a:t>slurm</a:t>
            </a:r>
            <a:r>
              <a:rPr lang="en-US" dirty="0"/>
              <a:t>-%x-%</a:t>
            </a:r>
            <a:r>
              <a:rPr lang="en-US" dirty="0" err="1"/>
              <a:t>j.out</a:t>
            </a:r>
            <a:endParaRPr lang="en-US" dirty="0"/>
          </a:p>
          <a:p>
            <a:r>
              <a:rPr lang="en-US" dirty="0"/>
              <a:t>#SBATCH --error=/gpfs01/home/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/>
              <a:t>/</a:t>
            </a:r>
            <a:r>
              <a:rPr lang="en-US" dirty="0" err="1"/>
              <a:t>slurm</a:t>
            </a:r>
            <a:r>
              <a:rPr lang="en-US" dirty="0"/>
              <a:t>-%x-%</a:t>
            </a:r>
            <a:r>
              <a:rPr lang="en-US" dirty="0" err="1"/>
              <a:t>j.err</a:t>
            </a:r>
            <a:endParaRPr lang="en-US" dirty="0"/>
          </a:p>
          <a:p>
            <a:r>
              <a:rPr lang="en-US" dirty="0"/>
              <a:t>#SBATCH --mail-type=ALL</a:t>
            </a:r>
          </a:p>
          <a:p>
            <a:r>
              <a:rPr lang="en-US" dirty="0"/>
              <a:t>#SBATCH --mail-user=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 err="1"/>
              <a:t>@exmail.nottingham.ac.uk</a:t>
            </a:r>
            <a:endParaRPr lang="en-US" dirty="0"/>
          </a:p>
          <a:p>
            <a:endParaRPr lang="en-US" dirty="0"/>
          </a:p>
          <a:p>
            <a:r>
              <a:rPr lang="en-US" dirty="0"/>
              <a:t># Write out a test file to check our job ran</a:t>
            </a:r>
          </a:p>
          <a:p>
            <a:r>
              <a:rPr lang="en-US" dirty="0"/>
              <a:t>echo “hello world” &gt; ~/</a:t>
            </a:r>
            <a:r>
              <a:rPr lang="en-US" dirty="0" err="1"/>
              <a:t>our_test_output.txt</a:t>
            </a:r>
            <a:endParaRPr lang="en-US" dirty="0"/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86FEFC-6D0A-5889-697A-D13E50F4B776}"/>
              </a:ext>
            </a:extLst>
          </p:cNvPr>
          <p:cNvSpPr txBox="1"/>
          <p:nvPr/>
        </p:nvSpPr>
        <p:spPr>
          <a:xfrm>
            <a:off x="430009" y="923142"/>
            <a:ext cx="3286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 job submission script: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FAC406-6EE1-1B7C-EE8D-2F501AAC70AF}"/>
              </a:ext>
            </a:extLst>
          </p:cNvPr>
          <p:cNvSpPr txBox="1"/>
          <p:nvPr/>
        </p:nvSpPr>
        <p:spPr>
          <a:xfrm>
            <a:off x="430009" y="6418830"/>
            <a:ext cx="115680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NOTE: My username is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sz="1600" dirty="0"/>
              <a:t> – where you see this in the scripts you will need to replace it with your own university username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A331B83-D5BD-E8A2-9FCB-9F9338551205}"/>
              </a:ext>
            </a:extLst>
          </p:cNvPr>
          <p:cNvSpPr/>
          <p:nvPr/>
        </p:nvSpPr>
        <p:spPr>
          <a:xfrm>
            <a:off x="249382" y="1898073"/>
            <a:ext cx="3467361" cy="332509"/>
          </a:xfrm>
          <a:prstGeom prst="rect">
            <a:avLst/>
          </a:prstGeom>
          <a:solidFill>
            <a:schemeClr val="accent1">
              <a:alpha val="42761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749C8E-C567-62C2-B910-76D1175BCF30}"/>
              </a:ext>
            </a:extLst>
          </p:cNvPr>
          <p:cNvSpPr txBox="1"/>
          <p:nvPr/>
        </p:nvSpPr>
        <p:spPr>
          <a:xfrm>
            <a:off x="7561376" y="1898073"/>
            <a:ext cx="360538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--partition= </a:t>
            </a:r>
          </a:p>
          <a:p>
            <a:endParaRPr lang="en-US" dirty="0"/>
          </a:p>
          <a:p>
            <a:r>
              <a:rPr lang="en-US" dirty="0"/>
              <a:t>Select the type of compute node you want to use (we will talk about the different partitions that are available to you later)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92551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1D66F9-7C1C-68CA-1115-143DCBC3C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F11DD-3EEA-8920-187A-8C3992A300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4143"/>
            <a:ext cx="9144000" cy="557441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Every job needs a job submission script: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8B37EF-5E5D-9BD5-DD59-3D1CCCC7001F}"/>
              </a:ext>
            </a:extLst>
          </p:cNvPr>
          <p:cNvSpPr txBox="1"/>
          <p:nvPr/>
        </p:nvSpPr>
        <p:spPr>
          <a:xfrm>
            <a:off x="464652" y="1343888"/>
            <a:ext cx="6504183" cy="4801314"/>
          </a:xfrm>
          <a:prstGeom prst="rect">
            <a:avLst/>
          </a:prstGeom>
          <a:solidFill>
            <a:schemeClr val="accent1">
              <a:alpha val="16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#!/bin/bash</a:t>
            </a:r>
          </a:p>
          <a:p>
            <a:endParaRPr lang="en-US" dirty="0"/>
          </a:p>
          <a:p>
            <a:r>
              <a:rPr lang="en-US" dirty="0"/>
              <a:t>#SBATCH --partition=</a:t>
            </a:r>
            <a:r>
              <a:rPr lang="en-US" dirty="0" err="1"/>
              <a:t>defq</a:t>
            </a:r>
            <a:endParaRPr lang="en-US" dirty="0"/>
          </a:p>
          <a:p>
            <a:r>
              <a:rPr lang="en-US" dirty="0"/>
              <a:t>#SBATCH --nodes=1</a:t>
            </a:r>
          </a:p>
          <a:p>
            <a:r>
              <a:rPr lang="en-US" dirty="0"/>
              <a:t>#SBATCH --</a:t>
            </a:r>
            <a:r>
              <a:rPr lang="en-US" dirty="0" err="1"/>
              <a:t>ntasks</a:t>
            </a:r>
            <a:r>
              <a:rPr lang="en-US" dirty="0"/>
              <a:t>=1</a:t>
            </a:r>
          </a:p>
          <a:p>
            <a:r>
              <a:rPr lang="en-US" dirty="0"/>
              <a:t>#SBATCH --</a:t>
            </a:r>
            <a:r>
              <a:rPr lang="en-US" dirty="0" err="1"/>
              <a:t>cpus</a:t>
            </a:r>
            <a:r>
              <a:rPr lang="en-US" dirty="0"/>
              <a:t>-per-task=8</a:t>
            </a:r>
          </a:p>
          <a:p>
            <a:r>
              <a:rPr lang="en-US" dirty="0"/>
              <a:t>#SBATCH --mem=5g</a:t>
            </a:r>
          </a:p>
          <a:p>
            <a:r>
              <a:rPr lang="en-US" dirty="0"/>
              <a:t>#SBATCH --time=00:10:00</a:t>
            </a:r>
          </a:p>
          <a:p>
            <a:r>
              <a:rPr lang="en-US" dirty="0"/>
              <a:t>#SBATCH --job-name=</a:t>
            </a:r>
            <a:r>
              <a:rPr lang="en-US" dirty="0" err="1"/>
              <a:t>my_job</a:t>
            </a:r>
            <a:endParaRPr lang="en-US" dirty="0"/>
          </a:p>
          <a:p>
            <a:r>
              <a:rPr lang="en-US" dirty="0"/>
              <a:t>#SBATCH --output=/gpfs01/home/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/>
              <a:t>/</a:t>
            </a:r>
            <a:r>
              <a:rPr lang="en-US" dirty="0" err="1"/>
              <a:t>slurm</a:t>
            </a:r>
            <a:r>
              <a:rPr lang="en-US" dirty="0"/>
              <a:t>-%x-%</a:t>
            </a:r>
            <a:r>
              <a:rPr lang="en-US" dirty="0" err="1"/>
              <a:t>j.out</a:t>
            </a:r>
            <a:endParaRPr lang="en-US" dirty="0"/>
          </a:p>
          <a:p>
            <a:r>
              <a:rPr lang="en-US" dirty="0"/>
              <a:t>#SBATCH --error=/gpfs01/home/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/>
              <a:t>/</a:t>
            </a:r>
            <a:r>
              <a:rPr lang="en-US" dirty="0" err="1"/>
              <a:t>slurm</a:t>
            </a:r>
            <a:r>
              <a:rPr lang="en-US" dirty="0"/>
              <a:t>-%x-%</a:t>
            </a:r>
            <a:r>
              <a:rPr lang="en-US" dirty="0" err="1"/>
              <a:t>j.err</a:t>
            </a:r>
            <a:endParaRPr lang="en-US" dirty="0"/>
          </a:p>
          <a:p>
            <a:r>
              <a:rPr lang="en-US" dirty="0"/>
              <a:t>#SBATCH --mail-type=ALL</a:t>
            </a:r>
          </a:p>
          <a:p>
            <a:r>
              <a:rPr lang="en-US" dirty="0"/>
              <a:t>#SBATCH --mail-user=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 err="1"/>
              <a:t>@exmail.nottingham.ac.uk</a:t>
            </a:r>
            <a:endParaRPr lang="en-US" dirty="0"/>
          </a:p>
          <a:p>
            <a:endParaRPr lang="en-US" dirty="0"/>
          </a:p>
          <a:p>
            <a:r>
              <a:rPr lang="en-US" dirty="0"/>
              <a:t># Write out a test file to check our job ran</a:t>
            </a:r>
          </a:p>
          <a:p>
            <a:r>
              <a:rPr lang="en-US" dirty="0"/>
              <a:t>echo “hello world” &gt; ~/</a:t>
            </a:r>
            <a:r>
              <a:rPr lang="en-US" dirty="0" err="1"/>
              <a:t>our_test_output.txt</a:t>
            </a:r>
            <a:endParaRPr lang="en-US" dirty="0"/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B3548A-85AE-857E-FDDC-BFA4CC103602}"/>
              </a:ext>
            </a:extLst>
          </p:cNvPr>
          <p:cNvSpPr txBox="1"/>
          <p:nvPr/>
        </p:nvSpPr>
        <p:spPr>
          <a:xfrm>
            <a:off x="430009" y="923142"/>
            <a:ext cx="3286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 job submission script: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753D797-ABD2-A43D-C5DD-CC453057368D}"/>
              </a:ext>
            </a:extLst>
          </p:cNvPr>
          <p:cNvSpPr txBox="1"/>
          <p:nvPr/>
        </p:nvSpPr>
        <p:spPr>
          <a:xfrm>
            <a:off x="430009" y="6418830"/>
            <a:ext cx="115680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NOTE: My username is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sz="1600" dirty="0"/>
              <a:t> – where you see this in the scripts you will need to replace it with your own university username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DA221DC-E7E7-DEA7-5B09-8E2E3A988B03}"/>
              </a:ext>
            </a:extLst>
          </p:cNvPr>
          <p:cNvSpPr/>
          <p:nvPr/>
        </p:nvSpPr>
        <p:spPr>
          <a:xfrm>
            <a:off x="249382" y="2189018"/>
            <a:ext cx="3467361" cy="332509"/>
          </a:xfrm>
          <a:prstGeom prst="rect">
            <a:avLst/>
          </a:prstGeom>
          <a:solidFill>
            <a:schemeClr val="accent1">
              <a:alpha val="42761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728B2F-E54C-C2EB-1310-F26C99537F47}"/>
              </a:ext>
            </a:extLst>
          </p:cNvPr>
          <p:cNvSpPr txBox="1"/>
          <p:nvPr/>
        </p:nvSpPr>
        <p:spPr>
          <a:xfrm>
            <a:off x="7561376" y="1898073"/>
            <a:ext cx="360538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--nodes= </a:t>
            </a:r>
          </a:p>
          <a:p>
            <a:endParaRPr lang="en-US" dirty="0"/>
          </a:p>
          <a:p>
            <a:r>
              <a:rPr lang="en-US" dirty="0"/>
              <a:t>Select how many compute nodes you want to use (almost always this will be 1)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79986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074D2-25CE-7AA7-BBF0-2C11EF753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B93B0-6835-5C78-E7E2-252E139771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4143"/>
            <a:ext cx="9144000" cy="557441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Every job needs a job submission script: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AB5DF2-474C-68E4-24AA-826CDEEDF0EB}"/>
              </a:ext>
            </a:extLst>
          </p:cNvPr>
          <p:cNvSpPr txBox="1"/>
          <p:nvPr/>
        </p:nvSpPr>
        <p:spPr>
          <a:xfrm>
            <a:off x="464652" y="1343888"/>
            <a:ext cx="6504183" cy="4801314"/>
          </a:xfrm>
          <a:prstGeom prst="rect">
            <a:avLst/>
          </a:prstGeom>
          <a:solidFill>
            <a:schemeClr val="accent1">
              <a:alpha val="16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#!/bin/bash</a:t>
            </a:r>
          </a:p>
          <a:p>
            <a:endParaRPr lang="en-US" dirty="0"/>
          </a:p>
          <a:p>
            <a:r>
              <a:rPr lang="en-US" dirty="0"/>
              <a:t>#SBATCH --partition=</a:t>
            </a:r>
            <a:r>
              <a:rPr lang="en-US" dirty="0" err="1"/>
              <a:t>defq</a:t>
            </a:r>
            <a:endParaRPr lang="en-US" dirty="0"/>
          </a:p>
          <a:p>
            <a:r>
              <a:rPr lang="en-US" dirty="0"/>
              <a:t>#SBATCH --nodes=1</a:t>
            </a:r>
          </a:p>
          <a:p>
            <a:r>
              <a:rPr lang="en-US" dirty="0"/>
              <a:t>#SBATCH --</a:t>
            </a:r>
            <a:r>
              <a:rPr lang="en-US" dirty="0" err="1"/>
              <a:t>ntasks</a:t>
            </a:r>
            <a:r>
              <a:rPr lang="en-US" dirty="0"/>
              <a:t>=1</a:t>
            </a:r>
          </a:p>
          <a:p>
            <a:r>
              <a:rPr lang="en-US" dirty="0"/>
              <a:t>#SBATCH --</a:t>
            </a:r>
            <a:r>
              <a:rPr lang="en-US" dirty="0" err="1"/>
              <a:t>cpus</a:t>
            </a:r>
            <a:r>
              <a:rPr lang="en-US" dirty="0"/>
              <a:t>-per-task=8</a:t>
            </a:r>
          </a:p>
          <a:p>
            <a:r>
              <a:rPr lang="en-US" dirty="0"/>
              <a:t>#SBATCH --mem=5g</a:t>
            </a:r>
          </a:p>
          <a:p>
            <a:r>
              <a:rPr lang="en-US" dirty="0"/>
              <a:t>#SBATCH --time=00:10:00</a:t>
            </a:r>
          </a:p>
          <a:p>
            <a:r>
              <a:rPr lang="en-US" dirty="0"/>
              <a:t>#SBATCH --job-name=</a:t>
            </a:r>
            <a:r>
              <a:rPr lang="en-US" dirty="0" err="1"/>
              <a:t>my_job</a:t>
            </a:r>
            <a:endParaRPr lang="en-US" dirty="0"/>
          </a:p>
          <a:p>
            <a:r>
              <a:rPr lang="en-US" dirty="0"/>
              <a:t>#SBATCH --output=/gpfs01/home/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/>
              <a:t>/</a:t>
            </a:r>
            <a:r>
              <a:rPr lang="en-US" dirty="0" err="1"/>
              <a:t>slurm</a:t>
            </a:r>
            <a:r>
              <a:rPr lang="en-US" dirty="0"/>
              <a:t>-%x-%</a:t>
            </a:r>
            <a:r>
              <a:rPr lang="en-US" dirty="0" err="1"/>
              <a:t>j.out</a:t>
            </a:r>
            <a:endParaRPr lang="en-US" dirty="0"/>
          </a:p>
          <a:p>
            <a:r>
              <a:rPr lang="en-US" dirty="0"/>
              <a:t>#SBATCH --error=/gpfs01/home/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/>
              <a:t>/</a:t>
            </a:r>
            <a:r>
              <a:rPr lang="en-US" dirty="0" err="1"/>
              <a:t>slurm</a:t>
            </a:r>
            <a:r>
              <a:rPr lang="en-US" dirty="0"/>
              <a:t>-%x-%</a:t>
            </a:r>
            <a:r>
              <a:rPr lang="en-US" dirty="0" err="1"/>
              <a:t>j.err</a:t>
            </a:r>
            <a:endParaRPr lang="en-US" dirty="0"/>
          </a:p>
          <a:p>
            <a:r>
              <a:rPr lang="en-US" dirty="0"/>
              <a:t>#SBATCH --mail-type=ALL</a:t>
            </a:r>
          </a:p>
          <a:p>
            <a:r>
              <a:rPr lang="en-US" dirty="0"/>
              <a:t>#SBATCH --mail-user=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 err="1"/>
              <a:t>@exmail.nottingham.ac.uk</a:t>
            </a:r>
            <a:endParaRPr lang="en-US" dirty="0"/>
          </a:p>
          <a:p>
            <a:endParaRPr lang="en-US" dirty="0"/>
          </a:p>
          <a:p>
            <a:r>
              <a:rPr lang="en-US" dirty="0"/>
              <a:t># Write out a test file to check our job ran</a:t>
            </a:r>
          </a:p>
          <a:p>
            <a:r>
              <a:rPr lang="en-US" dirty="0"/>
              <a:t>echo “hello world” &gt; ~/</a:t>
            </a:r>
            <a:r>
              <a:rPr lang="en-US" dirty="0" err="1"/>
              <a:t>our_test_output.txt</a:t>
            </a:r>
            <a:endParaRPr lang="en-US" dirty="0"/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75C216-BDE8-1459-37E9-65D06D5F2075}"/>
              </a:ext>
            </a:extLst>
          </p:cNvPr>
          <p:cNvSpPr txBox="1"/>
          <p:nvPr/>
        </p:nvSpPr>
        <p:spPr>
          <a:xfrm>
            <a:off x="430009" y="923142"/>
            <a:ext cx="3286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 job submission script: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2EBE4C2-0FA6-720C-97E4-BB6D97794B0C}"/>
              </a:ext>
            </a:extLst>
          </p:cNvPr>
          <p:cNvSpPr txBox="1"/>
          <p:nvPr/>
        </p:nvSpPr>
        <p:spPr>
          <a:xfrm>
            <a:off x="430009" y="6418830"/>
            <a:ext cx="115680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NOTE: My username is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sz="1600" dirty="0"/>
              <a:t> – where you see this in the scripts you will need to replace it with your own university username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284D37C-D2D3-602F-B6BE-9CD91361225E}"/>
              </a:ext>
            </a:extLst>
          </p:cNvPr>
          <p:cNvSpPr/>
          <p:nvPr/>
        </p:nvSpPr>
        <p:spPr>
          <a:xfrm>
            <a:off x="249382" y="2452259"/>
            <a:ext cx="3467361" cy="332509"/>
          </a:xfrm>
          <a:prstGeom prst="rect">
            <a:avLst/>
          </a:prstGeom>
          <a:solidFill>
            <a:schemeClr val="accent1">
              <a:alpha val="42761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ACBA33-0475-1859-940C-9B1ACA5219D4}"/>
              </a:ext>
            </a:extLst>
          </p:cNvPr>
          <p:cNvSpPr txBox="1"/>
          <p:nvPr/>
        </p:nvSpPr>
        <p:spPr>
          <a:xfrm>
            <a:off x="7561376" y="1898073"/>
            <a:ext cx="360538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--</a:t>
            </a:r>
            <a:r>
              <a:rPr lang="en-US" dirty="0" err="1"/>
              <a:t>ntasks</a:t>
            </a:r>
            <a:r>
              <a:rPr lang="en-US" dirty="0"/>
              <a:t>= </a:t>
            </a:r>
          </a:p>
          <a:p>
            <a:endParaRPr lang="en-US" dirty="0"/>
          </a:p>
          <a:p>
            <a:r>
              <a:rPr lang="en-US" dirty="0"/>
              <a:t>Select how many separate tasks you want your job to be split across (for most jobs this will also be 1)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84467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99056-F955-46E2-27A3-33A9140E5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033E1-19CF-7283-B09C-5C3A67623D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4143"/>
            <a:ext cx="9144000" cy="557441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Every job needs a job submission script: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86D242-5C87-BFD2-D594-6EB170458A0A}"/>
              </a:ext>
            </a:extLst>
          </p:cNvPr>
          <p:cNvSpPr txBox="1"/>
          <p:nvPr/>
        </p:nvSpPr>
        <p:spPr>
          <a:xfrm>
            <a:off x="464652" y="1343888"/>
            <a:ext cx="6504183" cy="4801314"/>
          </a:xfrm>
          <a:prstGeom prst="rect">
            <a:avLst/>
          </a:prstGeom>
          <a:solidFill>
            <a:schemeClr val="accent1">
              <a:alpha val="16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#!/bin/bash</a:t>
            </a:r>
          </a:p>
          <a:p>
            <a:endParaRPr lang="en-US" dirty="0"/>
          </a:p>
          <a:p>
            <a:r>
              <a:rPr lang="en-US" dirty="0"/>
              <a:t>#SBATCH --partition=</a:t>
            </a:r>
            <a:r>
              <a:rPr lang="en-US" dirty="0" err="1"/>
              <a:t>defq</a:t>
            </a:r>
            <a:endParaRPr lang="en-US" dirty="0"/>
          </a:p>
          <a:p>
            <a:r>
              <a:rPr lang="en-US" dirty="0"/>
              <a:t>#SBATCH --nodes=1</a:t>
            </a:r>
          </a:p>
          <a:p>
            <a:r>
              <a:rPr lang="en-US" dirty="0"/>
              <a:t>#SBATCH --</a:t>
            </a:r>
            <a:r>
              <a:rPr lang="en-US" dirty="0" err="1"/>
              <a:t>ntasks</a:t>
            </a:r>
            <a:r>
              <a:rPr lang="en-US" dirty="0"/>
              <a:t>=1</a:t>
            </a:r>
          </a:p>
          <a:p>
            <a:r>
              <a:rPr lang="en-US" dirty="0"/>
              <a:t>#SBATCH --</a:t>
            </a:r>
            <a:r>
              <a:rPr lang="en-US" dirty="0" err="1"/>
              <a:t>cpus</a:t>
            </a:r>
            <a:r>
              <a:rPr lang="en-US" dirty="0"/>
              <a:t>-per-task=8</a:t>
            </a:r>
          </a:p>
          <a:p>
            <a:r>
              <a:rPr lang="en-US" dirty="0"/>
              <a:t>#SBATCH --mem=5g</a:t>
            </a:r>
          </a:p>
          <a:p>
            <a:r>
              <a:rPr lang="en-US" dirty="0"/>
              <a:t>#SBATCH --time=00:10:00</a:t>
            </a:r>
          </a:p>
          <a:p>
            <a:r>
              <a:rPr lang="en-US" dirty="0"/>
              <a:t>#SBATCH --job-name=</a:t>
            </a:r>
            <a:r>
              <a:rPr lang="en-US" dirty="0" err="1"/>
              <a:t>my_job</a:t>
            </a:r>
            <a:endParaRPr lang="en-US" dirty="0"/>
          </a:p>
          <a:p>
            <a:r>
              <a:rPr lang="en-US" dirty="0"/>
              <a:t>#SBATCH --output=/gpfs01/home/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/>
              <a:t>/</a:t>
            </a:r>
            <a:r>
              <a:rPr lang="en-US" dirty="0" err="1"/>
              <a:t>slurm</a:t>
            </a:r>
            <a:r>
              <a:rPr lang="en-US" dirty="0"/>
              <a:t>-%x-%</a:t>
            </a:r>
            <a:r>
              <a:rPr lang="en-US" dirty="0" err="1"/>
              <a:t>j.out</a:t>
            </a:r>
            <a:endParaRPr lang="en-US" dirty="0"/>
          </a:p>
          <a:p>
            <a:r>
              <a:rPr lang="en-US" dirty="0"/>
              <a:t>#SBATCH --error=/gpfs01/home/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/>
              <a:t>/</a:t>
            </a:r>
            <a:r>
              <a:rPr lang="en-US" dirty="0" err="1"/>
              <a:t>slurm</a:t>
            </a:r>
            <a:r>
              <a:rPr lang="en-US" dirty="0"/>
              <a:t>-%x-%</a:t>
            </a:r>
            <a:r>
              <a:rPr lang="en-US" dirty="0" err="1"/>
              <a:t>j.err</a:t>
            </a:r>
            <a:endParaRPr lang="en-US" dirty="0"/>
          </a:p>
          <a:p>
            <a:r>
              <a:rPr lang="en-US" dirty="0"/>
              <a:t>#SBATCH --mail-type=ALL</a:t>
            </a:r>
          </a:p>
          <a:p>
            <a:r>
              <a:rPr lang="en-US" dirty="0"/>
              <a:t>#SBATCH --mail-user=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 err="1"/>
              <a:t>@exmail.nottingham.ac.uk</a:t>
            </a:r>
            <a:endParaRPr lang="en-US" dirty="0"/>
          </a:p>
          <a:p>
            <a:endParaRPr lang="en-US" dirty="0"/>
          </a:p>
          <a:p>
            <a:r>
              <a:rPr lang="en-US" dirty="0"/>
              <a:t># Write out a test file to check our job ran</a:t>
            </a:r>
          </a:p>
          <a:p>
            <a:r>
              <a:rPr lang="en-US" dirty="0"/>
              <a:t>echo “hello world” &gt; ~/</a:t>
            </a:r>
            <a:r>
              <a:rPr lang="en-US" dirty="0" err="1"/>
              <a:t>our_test_output.txt</a:t>
            </a:r>
            <a:endParaRPr lang="en-US" dirty="0"/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CF9712-0DDE-EDF7-3BE9-A8B355180D4B}"/>
              </a:ext>
            </a:extLst>
          </p:cNvPr>
          <p:cNvSpPr txBox="1"/>
          <p:nvPr/>
        </p:nvSpPr>
        <p:spPr>
          <a:xfrm>
            <a:off x="430009" y="923142"/>
            <a:ext cx="3286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 job submission script: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9836C8C-080D-FBC9-CD59-28C144D894A5}"/>
              </a:ext>
            </a:extLst>
          </p:cNvPr>
          <p:cNvSpPr txBox="1"/>
          <p:nvPr/>
        </p:nvSpPr>
        <p:spPr>
          <a:xfrm>
            <a:off x="430009" y="6418830"/>
            <a:ext cx="115680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NOTE: My username is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sz="1600" dirty="0"/>
              <a:t> – where you see this in the scripts you will need to replace it with your own university username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9ABF0EA-8ADF-3F35-8682-E094E7B842F8}"/>
              </a:ext>
            </a:extLst>
          </p:cNvPr>
          <p:cNvSpPr/>
          <p:nvPr/>
        </p:nvSpPr>
        <p:spPr>
          <a:xfrm>
            <a:off x="249382" y="2715499"/>
            <a:ext cx="3467361" cy="332509"/>
          </a:xfrm>
          <a:prstGeom prst="rect">
            <a:avLst/>
          </a:prstGeom>
          <a:solidFill>
            <a:schemeClr val="accent1">
              <a:alpha val="42761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FB5FF7-CAEA-C2D7-9A4A-879D8E552B15}"/>
              </a:ext>
            </a:extLst>
          </p:cNvPr>
          <p:cNvSpPr txBox="1"/>
          <p:nvPr/>
        </p:nvSpPr>
        <p:spPr>
          <a:xfrm>
            <a:off x="7561376" y="1898073"/>
            <a:ext cx="360538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--</a:t>
            </a:r>
            <a:r>
              <a:rPr lang="en-US" dirty="0" err="1"/>
              <a:t>cpus</a:t>
            </a:r>
            <a:r>
              <a:rPr lang="en-US" dirty="0"/>
              <a:t>-per-task= </a:t>
            </a:r>
          </a:p>
          <a:p>
            <a:endParaRPr lang="en-US" dirty="0"/>
          </a:p>
          <a:p>
            <a:r>
              <a:rPr lang="en-US" dirty="0"/>
              <a:t>Select how many cores you want your job to use. This is where you can make a lot of things much faster by requesting more cores.</a:t>
            </a:r>
          </a:p>
          <a:p>
            <a:endParaRPr lang="en-US" dirty="0"/>
          </a:p>
          <a:p>
            <a:r>
              <a:rPr lang="en-US" dirty="0"/>
              <a:t>NOTE: you cannot request more than the maximum number of cores in the node or nodes you have requested.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4041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F66F0-4ECE-0789-2635-7C7ADF160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08ABAB-1B2C-F625-B878-B55C04735A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4143"/>
            <a:ext cx="9144000" cy="557441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Every job needs a job submission script: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460013-25F3-E457-7DB4-1ADAEBD673FA}"/>
              </a:ext>
            </a:extLst>
          </p:cNvPr>
          <p:cNvSpPr txBox="1"/>
          <p:nvPr/>
        </p:nvSpPr>
        <p:spPr>
          <a:xfrm>
            <a:off x="464652" y="1343888"/>
            <a:ext cx="6504183" cy="4801314"/>
          </a:xfrm>
          <a:prstGeom prst="rect">
            <a:avLst/>
          </a:prstGeom>
          <a:solidFill>
            <a:schemeClr val="accent1">
              <a:alpha val="16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#!/bin/bash</a:t>
            </a:r>
          </a:p>
          <a:p>
            <a:endParaRPr lang="en-US" dirty="0"/>
          </a:p>
          <a:p>
            <a:r>
              <a:rPr lang="en-US" dirty="0"/>
              <a:t>#SBATCH --partition=</a:t>
            </a:r>
            <a:r>
              <a:rPr lang="en-US" dirty="0" err="1"/>
              <a:t>defq</a:t>
            </a:r>
            <a:endParaRPr lang="en-US" dirty="0"/>
          </a:p>
          <a:p>
            <a:r>
              <a:rPr lang="en-US" dirty="0"/>
              <a:t>#SBATCH --nodes=1</a:t>
            </a:r>
          </a:p>
          <a:p>
            <a:r>
              <a:rPr lang="en-US" dirty="0"/>
              <a:t>#SBATCH --</a:t>
            </a:r>
            <a:r>
              <a:rPr lang="en-US" dirty="0" err="1"/>
              <a:t>ntasks</a:t>
            </a:r>
            <a:r>
              <a:rPr lang="en-US" dirty="0"/>
              <a:t>=1</a:t>
            </a:r>
          </a:p>
          <a:p>
            <a:r>
              <a:rPr lang="en-US" dirty="0"/>
              <a:t>#SBATCH --</a:t>
            </a:r>
            <a:r>
              <a:rPr lang="en-US" dirty="0" err="1"/>
              <a:t>cpus</a:t>
            </a:r>
            <a:r>
              <a:rPr lang="en-US" dirty="0"/>
              <a:t>-per-task=8</a:t>
            </a:r>
          </a:p>
          <a:p>
            <a:r>
              <a:rPr lang="en-US" dirty="0"/>
              <a:t>#SBATCH --mem=5g</a:t>
            </a:r>
          </a:p>
          <a:p>
            <a:r>
              <a:rPr lang="en-US" dirty="0"/>
              <a:t>#SBATCH --time=00:10:00</a:t>
            </a:r>
          </a:p>
          <a:p>
            <a:r>
              <a:rPr lang="en-US" dirty="0"/>
              <a:t>#SBATCH --job-name=</a:t>
            </a:r>
            <a:r>
              <a:rPr lang="en-US" dirty="0" err="1"/>
              <a:t>my_job</a:t>
            </a:r>
            <a:endParaRPr lang="en-US" dirty="0"/>
          </a:p>
          <a:p>
            <a:r>
              <a:rPr lang="en-US" dirty="0"/>
              <a:t>#SBATCH --output=/gpfs01/home/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/>
              <a:t>/</a:t>
            </a:r>
            <a:r>
              <a:rPr lang="en-US" dirty="0" err="1"/>
              <a:t>slurm</a:t>
            </a:r>
            <a:r>
              <a:rPr lang="en-US" dirty="0"/>
              <a:t>-%x-%</a:t>
            </a:r>
            <a:r>
              <a:rPr lang="en-US" dirty="0" err="1"/>
              <a:t>j.out</a:t>
            </a:r>
            <a:endParaRPr lang="en-US" dirty="0"/>
          </a:p>
          <a:p>
            <a:r>
              <a:rPr lang="en-US" dirty="0"/>
              <a:t>#SBATCH --error=/gpfs01/home/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/>
              <a:t>/</a:t>
            </a:r>
            <a:r>
              <a:rPr lang="en-US" dirty="0" err="1"/>
              <a:t>slurm</a:t>
            </a:r>
            <a:r>
              <a:rPr lang="en-US" dirty="0"/>
              <a:t>-%x-%</a:t>
            </a:r>
            <a:r>
              <a:rPr lang="en-US" dirty="0" err="1"/>
              <a:t>j.err</a:t>
            </a:r>
            <a:endParaRPr lang="en-US" dirty="0"/>
          </a:p>
          <a:p>
            <a:r>
              <a:rPr lang="en-US" dirty="0"/>
              <a:t>#SBATCH --mail-type=ALL</a:t>
            </a:r>
          </a:p>
          <a:p>
            <a:r>
              <a:rPr lang="en-US" dirty="0"/>
              <a:t>#SBATCH --mail-user=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 err="1"/>
              <a:t>@exmail.nottingham.ac.uk</a:t>
            </a:r>
            <a:endParaRPr lang="en-US" dirty="0"/>
          </a:p>
          <a:p>
            <a:endParaRPr lang="en-US" dirty="0"/>
          </a:p>
          <a:p>
            <a:r>
              <a:rPr lang="en-US" dirty="0"/>
              <a:t># Write out a test file to check our job ran</a:t>
            </a:r>
          </a:p>
          <a:p>
            <a:r>
              <a:rPr lang="en-US" dirty="0"/>
              <a:t>echo “hello world” &gt; ~/</a:t>
            </a:r>
            <a:r>
              <a:rPr lang="en-US" dirty="0" err="1"/>
              <a:t>our_test_output.txt</a:t>
            </a:r>
            <a:endParaRPr lang="en-US" dirty="0"/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3578AF-7654-D48C-DCFD-90B52913F657}"/>
              </a:ext>
            </a:extLst>
          </p:cNvPr>
          <p:cNvSpPr txBox="1"/>
          <p:nvPr/>
        </p:nvSpPr>
        <p:spPr>
          <a:xfrm>
            <a:off x="430009" y="923142"/>
            <a:ext cx="3286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 job submission script: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9B01106-FB48-C84C-1E86-646287CBFA03}"/>
              </a:ext>
            </a:extLst>
          </p:cNvPr>
          <p:cNvSpPr txBox="1"/>
          <p:nvPr/>
        </p:nvSpPr>
        <p:spPr>
          <a:xfrm>
            <a:off x="430009" y="6418830"/>
            <a:ext cx="115680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NOTE: My username is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sz="1600" dirty="0"/>
              <a:t> – where you see this in the scripts you will need to replace it with your own university username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3DFD2D7-5667-505D-C4BA-737FF675C390}"/>
              </a:ext>
            </a:extLst>
          </p:cNvPr>
          <p:cNvSpPr/>
          <p:nvPr/>
        </p:nvSpPr>
        <p:spPr>
          <a:xfrm>
            <a:off x="249382" y="3006446"/>
            <a:ext cx="3467361" cy="332509"/>
          </a:xfrm>
          <a:prstGeom prst="rect">
            <a:avLst/>
          </a:prstGeom>
          <a:solidFill>
            <a:schemeClr val="accent1">
              <a:alpha val="42761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3E9816-3222-C0D4-9C9D-4C5EA87519A0}"/>
              </a:ext>
            </a:extLst>
          </p:cNvPr>
          <p:cNvSpPr txBox="1"/>
          <p:nvPr/>
        </p:nvSpPr>
        <p:spPr>
          <a:xfrm>
            <a:off x="7561376" y="1898073"/>
            <a:ext cx="360538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--mem= </a:t>
            </a:r>
          </a:p>
          <a:p>
            <a:endParaRPr lang="en-US" dirty="0"/>
          </a:p>
          <a:p>
            <a:r>
              <a:rPr lang="en-US" dirty="0"/>
              <a:t>Select how much RAM to allocate to your job. This allows you to use far more memory than you would usually be able to access on a standard computer.</a:t>
            </a:r>
          </a:p>
          <a:p>
            <a:endParaRPr lang="en-US" dirty="0"/>
          </a:p>
          <a:p>
            <a:r>
              <a:rPr lang="en-US" dirty="0"/>
              <a:t>Units:</a:t>
            </a:r>
          </a:p>
          <a:p>
            <a:r>
              <a:rPr lang="en-US" dirty="0"/>
              <a:t>g = </a:t>
            </a:r>
            <a:r>
              <a:rPr lang="en-US" dirty="0" err="1"/>
              <a:t>gb</a:t>
            </a:r>
            <a:r>
              <a:rPr lang="en-US" dirty="0"/>
              <a:t> – gigabytes</a:t>
            </a:r>
          </a:p>
          <a:p>
            <a:r>
              <a:rPr lang="en-US" dirty="0"/>
              <a:t>m = mb – megabytes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44017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1F8453-0129-2603-25A2-43B5EE277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5AFAF-4581-D9C5-0854-6598A552BF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4143"/>
            <a:ext cx="9144000" cy="557441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Every job needs a job submission script: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C7B413-9CD4-7042-69CB-2B6116918A6D}"/>
              </a:ext>
            </a:extLst>
          </p:cNvPr>
          <p:cNvSpPr txBox="1"/>
          <p:nvPr/>
        </p:nvSpPr>
        <p:spPr>
          <a:xfrm>
            <a:off x="464652" y="1343888"/>
            <a:ext cx="6504183" cy="4801314"/>
          </a:xfrm>
          <a:prstGeom prst="rect">
            <a:avLst/>
          </a:prstGeom>
          <a:solidFill>
            <a:schemeClr val="accent1">
              <a:alpha val="16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#!/bin/bash</a:t>
            </a:r>
          </a:p>
          <a:p>
            <a:endParaRPr lang="en-US" dirty="0"/>
          </a:p>
          <a:p>
            <a:r>
              <a:rPr lang="en-US" dirty="0"/>
              <a:t>#SBATCH --partition=</a:t>
            </a:r>
            <a:r>
              <a:rPr lang="en-US" dirty="0" err="1"/>
              <a:t>defq</a:t>
            </a:r>
            <a:endParaRPr lang="en-US" dirty="0"/>
          </a:p>
          <a:p>
            <a:r>
              <a:rPr lang="en-US" dirty="0"/>
              <a:t>#SBATCH --nodes=1</a:t>
            </a:r>
          </a:p>
          <a:p>
            <a:r>
              <a:rPr lang="en-US" dirty="0"/>
              <a:t>#SBATCH --</a:t>
            </a:r>
            <a:r>
              <a:rPr lang="en-US" dirty="0" err="1"/>
              <a:t>ntasks</a:t>
            </a:r>
            <a:r>
              <a:rPr lang="en-US" dirty="0"/>
              <a:t>=1</a:t>
            </a:r>
          </a:p>
          <a:p>
            <a:r>
              <a:rPr lang="en-US" dirty="0"/>
              <a:t>#SBATCH --</a:t>
            </a:r>
            <a:r>
              <a:rPr lang="en-US" dirty="0" err="1"/>
              <a:t>cpus</a:t>
            </a:r>
            <a:r>
              <a:rPr lang="en-US" dirty="0"/>
              <a:t>-per-task=8</a:t>
            </a:r>
          </a:p>
          <a:p>
            <a:r>
              <a:rPr lang="en-US" dirty="0"/>
              <a:t>#SBATCH --mem=5g</a:t>
            </a:r>
          </a:p>
          <a:p>
            <a:r>
              <a:rPr lang="en-US" dirty="0"/>
              <a:t>#SBATCH --time=00:10:00</a:t>
            </a:r>
          </a:p>
          <a:p>
            <a:r>
              <a:rPr lang="en-US" dirty="0"/>
              <a:t>#SBATCH --job-name=</a:t>
            </a:r>
            <a:r>
              <a:rPr lang="en-US" dirty="0" err="1"/>
              <a:t>my_job</a:t>
            </a:r>
            <a:endParaRPr lang="en-US" dirty="0"/>
          </a:p>
          <a:p>
            <a:r>
              <a:rPr lang="en-US" dirty="0"/>
              <a:t>#SBATCH --output=/gpfs01/home/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/>
              <a:t>/</a:t>
            </a:r>
            <a:r>
              <a:rPr lang="en-US" dirty="0" err="1"/>
              <a:t>slurm</a:t>
            </a:r>
            <a:r>
              <a:rPr lang="en-US" dirty="0"/>
              <a:t>-%x-%</a:t>
            </a:r>
            <a:r>
              <a:rPr lang="en-US" dirty="0" err="1"/>
              <a:t>j.out</a:t>
            </a:r>
            <a:endParaRPr lang="en-US" dirty="0"/>
          </a:p>
          <a:p>
            <a:r>
              <a:rPr lang="en-US" dirty="0"/>
              <a:t>#SBATCH --error=/gpfs01/home/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/>
              <a:t>/</a:t>
            </a:r>
            <a:r>
              <a:rPr lang="en-US" dirty="0" err="1"/>
              <a:t>slurm</a:t>
            </a:r>
            <a:r>
              <a:rPr lang="en-US" dirty="0"/>
              <a:t>-%x-%</a:t>
            </a:r>
            <a:r>
              <a:rPr lang="en-US" dirty="0" err="1"/>
              <a:t>j.err</a:t>
            </a:r>
            <a:endParaRPr lang="en-US" dirty="0"/>
          </a:p>
          <a:p>
            <a:r>
              <a:rPr lang="en-US" dirty="0"/>
              <a:t>#SBATCH --mail-type=ALL</a:t>
            </a:r>
          </a:p>
          <a:p>
            <a:r>
              <a:rPr lang="en-US" dirty="0"/>
              <a:t>#SBATCH --mail-user=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 err="1"/>
              <a:t>@exmail.nottingham.ac.uk</a:t>
            </a:r>
            <a:endParaRPr lang="en-US" dirty="0"/>
          </a:p>
          <a:p>
            <a:endParaRPr lang="en-US" dirty="0"/>
          </a:p>
          <a:p>
            <a:r>
              <a:rPr lang="en-US" dirty="0"/>
              <a:t># Write out a test file to check our job ran</a:t>
            </a:r>
          </a:p>
          <a:p>
            <a:r>
              <a:rPr lang="en-US" dirty="0"/>
              <a:t>echo “hello world” &gt; ~/</a:t>
            </a:r>
            <a:r>
              <a:rPr lang="en-US" dirty="0" err="1"/>
              <a:t>our_test_output.txt</a:t>
            </a:r>
            <a:endParaRPr lang="en-US" dirty="0"/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5D2A6F-1B45-19A0-B602-E893AB367BF4}"/>
              </a:ext>
            </a:extLst>
          </p:cNvPr>
          <p:cNvSpPr txBox="1"/>
          <p:nvPr/>
        </p:nvSpPr>
        <p:spPr>
          <a:xfrm>
            <a:off x="430009" y="923142"/>
            <a:ext cx="3286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 job submission script: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488A36D-E0C9-99F1-40E5-FCF185219B8A}"/>
              </a:ext>
            </a:extLst>
          </p:cNvPr>
          <p:cNvSpPr txBox="1"/>
          <p:nvPr/>
        </p:nvSpPr>
        <p:spPr>
          <a:xfrm>
            <a:off x="430009" y="6418830"/>
            <a:ext cx="115680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NOTE: My username is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sz="1600" dirty="0"/>
              <a:t> – where you see this in the scripts you will need to replace it with your own university username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2C6C96E-35CC-FB67-A736-10D3ECB0807E}"/>
              </a:ext>
            </a:extLst>
          </p:cNvPr>
          <p:cNvSpPr/>
          <p:nvPr/>
        </p:nvSpPr>
        <p:spPr>
          <a:xfrm>
            <a:off x="249382" y="3269686"/>
            <a:ext cx="3467361" cy="332509"/>
          </a:xfrm>
          <a:prstGeom prst="rect">
            <a:avLst/>
          </a:prstGeom>
          <a:solidFill>
            <a:schemeClr val="accent1">
              <a:alpha val="42761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501D23-FD03-920D-9C97-7CCDC9C52BCA}"/>
              </a:ext>
            </a:extLst>
          </p:cNvPr>
          <p:cNvSpPr txBox="1"/>
          <p:nvPr/>
        </p:nvSpPr>
        <p:spPr>
          <a:xfrm>
            <a:off x="7561376" y="1898073"/>
            <a:ext cx="360538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--time= </a:t>
            </a:r>
          </a:p>
          <a:p>
            <a:endParaRPr lang="en-US" dirty="0"/>
          </a:p>
          <a:p>
            <a:r>
              <a:rPr lang="en-US" dirty="0"/>
              <a:t>Select the maximum amount of time your job can run for.</a:t>
            </a:r>
          </a:p>
          <a:p>
            <a:endParaRPr lang="en-US" dirty="0"/>
          </a:p>
          <a:p>
            <a:r>
              <a:rPr lang="en-US" dirty="0"/>
              <a:t>Units:</a:t>
            </a:r>
          </a:p>
          <a:p>
            <a:r>
              <a:rPr lang="en-US" dirty="0" err="1"/>
              <a:t>hh:mm:ss</a:t>
            </a:r>
            <a:endParaRPr lang="en-US" dirty="0"/>
          </a:p>
          <a:p>
            <a:endParaRPr lang="en-US" dirty="0"/>
          </a:p>
          <a:p>
            <a:r>
              <a:rPr lang="en-US" dirty="0"/>
              <a:t>NOTE: the different nodes have different maximum job times. No one can request more than 7 days (168 hours) on any node.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30637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59267-7DCE-C6B2-ADFF-CE4959B0D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C94D5-EC41-34CF-B386-3229D99368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4143"/>
            <a:ext cx="9144000" cy="557441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Every job needs a job submission script: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1ABDC8-76F9-B9CE-CF44-D5DB7A180A3A}"/>
              </a:ext>
            </a:extLst>
          </p:cNvPr>
          <p:cNvSpPr txBox="1"/>
          <p:nvPr/>
        </p:nvSpPr>
        <p:spPr>
          <a:xfrm>
            <a:off x="464652" y="1343888"/>
            <a:ext cx="6504183" cy="4801314"/>
          </a:xfrm>
          <a:prstGeom prst="rect">
            <a:avLst/>
          </a:prstGeom>
          <a:solidFill>
            <a:schemeClr val="accent1">
              <a:alpha val="16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#!/bin/bash</a:t>
            </a:r>
          </a:p>
          <a:p>
            <a:endParaRPr lang="en-US" dirty="0"/>
          </a:p>
          <a:p>
            <a:r>
              <a:rPr lang="en-US" dirty="0"/>
              <a:t>#SBATCH --partition=</a:t>
            </a:r>
            <a:r>
              <a:rPr lang="en-US" dirty="0" err="1"/>
              <a:t>defq</a:t>
            </a:r>
            <a:endParaRPr lang="en-US" dirty="0"/>
          </a:p>
          <a:p>
            <a:r>
              <a:rPr lang="en-US" dirty="0"/>
              <a:t>#SBATCH --nodes=1</a:t>
            </a:r>
          </a:p>
          <a:p>
            <a:r>
              <a:rPr lang="en-US" dirty="0"/>
              <a:t>#SBATCH --</a:t>
            </a:r>
            <a:r>
              <a:rPr lang="en-US" dirty="0" err="1"/>
              <a:t>ntasks</a:t>
            </a:r>
            <a:r>
              <a:rPr lang="en-US" dirty="0"/>
              <a:t>=1</a:t>
            </a:r>
          </a:p>
          <a:p>
            <a:r>
              <a:rPr lang="en-US" dirty="0"/>
              <a:t>#SBATCH --</a:t>
            </a:r>
            <a:r>
              <a:rPr lang="en-US" dirty="0" err="1"/>
              <a:t>cpus</a:t>
            </a:r>
            <a:r>
              <a:rPr lang="en-US" dirty="0"/>
              <a:t>-per-task=8</a:t>
            </a:r>
          </a:p>
          <a:p>
            <a:r>
              <a:rPr lang="en-US" dirty="0"/>
              <a:t>#SBATCH --mem=5g</a:t>
            </a:r>
          </a:p>
          <a:p>
            <a:r>
              <a:rPr lang="en-US" dirty="0"/>
              <a:t>#SBATCH --time=00:10:00</a:t>
            </a:r>
          </a:p>
          <a:p>
            <a:r>
              <a:rPr lang="en-US" dirty="0"/>
              <a:t>#SBATCH --job-name=</a:t>
            </a:r>
            <a:r>
              <a:rPr lang="en-US" dirty="0" err="1"/>
              <a:t>my_job</a:t>
            </a:r>
            <a:endParaRPr lang="en-US" dirty="0"/>
          </a:p>
          <a:p>
            <a:r>
              <a:rPr lang="en-US" dirty="0"/>
              <a:t>#SBATCH --output=/gpfs01/home/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/>
              <a:t>/</a:t>
            </a:r>
            <a:r>
              <a:rPr lang="en-US" dirty="0" err="1"/>
              <a:t>slurm</a:t>
            </a:r>
            <a:r>
              <a:rPr lang="en-US" dirty="0"/>
              <a:t>-%x-%</a:t>
            </a:r>
            <a:r>
              <a:rPr lang="en-US" dirty="0" err="1"/>
              <a:t>j.out</a:t>
            </a:r>
            <a:endParaRPr lang="en-US" dirty="0"/>
          </a:p>
          <a:p>
            <a:r>
              <a:rPr lang="en-US" dirty="0"/>
              <a:t>#SBATCH --error=/gpfs01/home/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/>
              <a:t>/</a:t>
            </a:r>
            <a:r>
              <a:rPr lang="en-US" dirty="0" err="1"/>
              <a:t>slurm</a:t>
            </a:r>
            <a:r>
              <a:rPr lang="en-US" dirty="0"/>
              <a:t>-%x-%</a:t>
            </a:r>
            <a:r>
              <a:rPr lang="en-US" dirty="0" err="1"/>
              <a:t>j.err</a:t>
            </a:r>
            <a:endParaRPr lang="en-US" dirty="0"/>
          </a:p>
          <a:p>
            <a:r>
              <a:rPr lang="en-US" dirty="0"/>
              <a:t>#SBATCH --mail-type=ALL</a:t>
            </a:r>
          </a:p>
          <a:p>
            <a:r>
              <a:rPr lang="en-US" dirty="0"/>
              <a:t>#SBATCH --mail-user=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 err="1"/>
              <a:t>@exmail.nottingham.ac.uk</a:t>
            </a:r>
            <a:endParaRPr lang="en-US" dirty="0"/>
          </a:p>
          <a:p>
            <a:endParaRPr lang="en-US" dirty="0"/>
          </a:p>
          <a:p>
            <a:r>
              <a:rPr lang="en-US" dirty="0"/>
              <a:t># Write out a test file to check our job ran</a:t>
            </a:r>
          </a:p>
          <a:p>
            <a:r>
              <a:rPr lang="en-US" dirty="0"/>
              <a:t>echo “hello world” &gt; ~/</a:t>
            </a:r>
            <a:r>
              <a:rPr lang="en-US" dirty="0" err="1"/>
              <a:t>our_test_output.txt</a:t>
            </a:r>
            <a:endParaRPr lang="en-US" dirty="0"/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AC7C2B-F068-3BA8-9A66-38220EEA3CA8}"/>
              </a:ext>
            </a:extLst>
          </p:cNvPr>
          <p:cNvSpPr txBox="1"/>
          <p:nvPr/>
        </p:nvSpPr>
        <p:spPr>
          <a:xfrm>
            <a:off x="430009" y="923142"/>
            <a:ext cx="3286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 job submission script: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3037E03-15B4-C920-5F15-A68F7C5039F9}"/>
              </a:ext>
            </a:extLst>
          </p:cNvPr>
          <p:cNvSpPr txBox="1"/>
          <p:nvPr/>
        </p:nvSpPr>
        <p:spPr>
          <a:xfrm>
            <a:off x="430009" y="6418830"/>
            <a:ext cx="115680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NOTE: My username is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sz="1600" dirty="0"/>
              <a:t> – where you see this in the scripts you will need to replace it with your own university username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AD5133-628E-398D-F907-F643CDB8F6B7}"/>
              </a:ext>
            </a:extLst>
          </p:cNvPr>
          <p:cNvSpPr/>
          <p:nvPr/>
        </p:nvSpPr>
        <p:spPr>
          <a:xfrm>
            <a:off x="249382" y="3546782"/>
            <a:ext cx="3467361" cy="332509"/>
          </a:xfrm>
          <a:prstGeom prst="rect">
            <a:avLst/>
          </a:prstGeom>
          <a:solidFill>
            <a:schemeClr val="accent1">
              <a:alpha val="42761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6FE39A-040D-180A-D062-3C911383DA23}"/>
              </a:ext>
            </a:extLst>
          </p:cNvPr>
          <p:cNvSpPr txBox="1"/>
          <p:nvPr/>
        </p:nvSpPr>
        <p:spPr>
          <a:xfrm>
            <a:off x="7561376" y="1898073"/>
            <a:ext cx="360538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--job-name= </a:t>
            </a:r>
          </a:p>
          <a:p>
            <a:endParaRPr lang="en-US" dirty="0"/>
          </a:p>
          <a:p>
            <a:r>
              <a:rPr lang="en-US" dirty="0"/>
              <a:t>Short useful name for you to identify your job (no spaces allowed!)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74806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1D219-837B-F03E-20BB-DC380001A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74DEB-9F8B-D607-3670-2EE5E49668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4143"/>
            <a:ext cx="9144000" cy="557441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Every job needs a job submission script: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6DB1B2-08FD-CBC5-B4BB-CAC952877E4B}"/>
              </a:ext>
            </a:extLst>
          </p:cNvPr>
          <p:cNvSpPr txBox="1"/>
          <p:nvPr/>
        </p:nvSpPr>
        <p:spPr>
          <a:xfrm>
            <a:off x="464652" y="1343888"/>
            <a:ext cx="6504183" cy="4801314"/>
          </a:xfrm>
          <a:prstGeom prst="rect">
            <a:avLst/>
          </a:prstGeom>
          <a:solidFill>
            <a:schemeClr val="accent1">
              <a:alpha val="16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#!/bin/bash</a:t>
            </a:r>
          </a:p>
          <a:p>
            <a:endParaRPr lang="en-US" dirty="0"/>
          </a:p>
          <a:p>
            <a:r>
              <a:rPr lang="en-US" dirty="0"/>
              <a:t>#SBATCH --partition=</a:t>
            </a:r>
            <a:r>
              <a:rPr lang="en-US" dirty="0" err="1"/>
              <a:t>defq</a:t>
            </a:r>
            <a:endParaRPr lang="en-US" dirty="0"/>
          </a:p>
          <a:p>
            <a:r>
              <a:rPr lang="en-US" dirty="0"/>
              <a:t>#SBATCH --nodes=1</a:t>
            </a:r>
          </a:p>
          <a:p>
            <a:r>
              <a:rPr lang="en-US" dirty="0"/>
              <a:t>#SBATCH --</a:t>
            </a:r>
            <a:r>
              <a:rPr lang="en-US" dirty="0" err="1"/>
              <a:t>ntasks</a:t>
            </a:r>
            <a:r>
              <a:rPr lang="en-US" dirty="0"/>
              <a:t>=1</a:t>
            </a:r>
          </a:p>
          <a:p>
            <a:r>
              <a:rPr lang="en-US" dirty="0"/>
              <a:t>#SBATCH --</a:t>
            </a:r>
            <a:r>
              <a:rPr lang="en-US" dirty="0" err="1"/>
              <a:t>cpus</a:t>
            </a:r>
            <a:r>
              <a:rPr lang="en-US" dirty="0"/>
              <a:t>-per-task=8</a:t>
            </a:r>
          </a:p>
          <a:p>
            <a:r>
              <a:rPr lang="en-US" dirty="0"/>
              <a:t>#SBATCH --mem=5g</a:t>
            </a:r>
          </a:p>
          <a:p>
            <a:r>
              <a:rPr lang="en-US" dirty="0"/>
              <a:t>#SBATCH --time=00:10:00</a:t>
            </a:r>
          </a:p>
          <a:p>
            <a:r>
              <a:rPr lang="en-US" dirty="0"/>
              <a:t>#SBATCH --job-name=</a:t>
            </a:r>
            <a:r>
              <a:rPr lang="en-US" dirty="0" err="1"/>
              <a:t>my_job</a:t>
            </a:r>
            <a:endParaRPr lang="en-US" dirty="0"/>
          </a:p>
          <a:p>
            <a:r>
              <a:rPr lang="en-US" dirty="0"/>
              <a:t>#SBATCH --output=/gpfs01/home/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/>
              <a:t>/</a:t>
            </a:r>
            <a:r>
              <a:rPr lang="en-US" dirty="0" err="1"/>
              <a:t>slurm</a:t>
            </a:r>
            <a:r>
              <a:rPr lang="en-US" dirty="0"/>
              <a:t>-%x-%</a:t>
            </a:r>
            <a:r>
              <a:rPr lang="en-US" dirty="0" err="1"/>
              <a:t>j.out</a:t>
            </a:r>
            <a:endParaRPr lang="en-US" dirty="0"/>
          </a:p>
          <a:p>
            <a:r>
              <a:rPr lang="en-US" dirty="0"/>
              <a:t>#SBATCH --error=/gpfs01/home/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/>
              <a:t>/</a:t>
            </a:r>
            <a:r>
              <a:rPr lang="en-US" dirty="0" err="1"/>
              <a:t>slurm</a:t>
            </a:r>
            <a:r>
              <a:rPr lang="en-US" dirty="0"/>
              <a:t>-%x-%</a:t>
            </a:r>
            <a:r>
              <a:rPr lang="en-US" dirty="0" err="1"/>
              <a:t>j.err</a:t>
            </a:r>
            <a:endParaRPr lang="en-US" dirty="0"/>
          </a:p>
          <a:p>
            <a:r>
              <a:rPr lang="en-US" dirty="0"/>
              <a:t>#SBATCH --mail-type=ALL</a:t>
            </a:r>
          </a:p>
          <a:p>
            <a:r>
              <a:rPr lang="en-US" dirty="0"/>
              <a:t>#SBATCH --mail-user=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 err="1"/>
              <a:t>@exmail.nottingham.ac.uk</a:t>
            </a:r>
            <a:endParaRPr lang="en-US" dirty="0"/>
          </a:p>
          <a:p>
            <a:endParaRPr lang="en-US" dirty="0"/>
          </a:p>
          <a:p>
            <a:r>
              <a:rPr lang="en-US" dirty="0"/>
              <a:t># Write out a test file to check our job ran</a:t>
            </a:r>
          </a:p>
          <a:p>
            <a:r>
              <a:rPr lang="en-US" dirty="0"/>
              <a:t>echo “hello world” &gt; ~/</a:t>
            </a:r>
            <a:r>
              <a:rPr lang="en-US" dirty="0" err="1"/>
              <a:t>our_test_output.txt</a:t>
            </a:r>
            <a:endParaRPr lang="en-US" dirty="0"/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B99DBF-6B3D-3F0E-CCFB-81535A357312}"/>
              </a:ext>
            </a:extLst>
          </p:cNvPr>
          <p:cNvSpPr txBox="1"/>
          <p:nvPr/>
        </p:nvSpPr>
        <p:spPr>
          <a:xfrm>
            <a:off x="430009" y="923142"/>
            <a:ext cx="3286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 job submission script: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A8E2E5-9B72-0C49-6A4C-F9D036AA4B8E}"/>
              </a:ext>
            </a:extLst>
          </p:cNvPr>
          <p:cNvSpPr txBox="1"/>
          <p:nvPr/>
        </p:nvSpPr>
        <p:spPr>
          <a:xfrm>
            <a:off x="430009" y="6418830"/>
            <a:ext cx="115680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NOTE: My username is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sz="1600" dirty="0"/>
              <a:t> – where you see this in the scripts you will need to replace it with your own university username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C042BC8-158E-3E68-3EA9-C762C0C238ED}"/>
              </a:ext>
            </a:extLst>
          </p:cNvPr>
          <p:cNvSpPr/>
          <p:nvPr/>
        </p:nvSpPr>
        <p:spPr>
          <a:xfrm>
            <a:off x="249382" y="3810019"/>
            <a:ext cx="6386945" cy="338554"/>
          </a:xfrm>
          <a:prstGeom prst="rect">
            <a:avLst/>
          </a:prstGeom>
          <a:solidFill>
            <a:schemeClr val="accent1">
              <a:alpha val="42761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68B520-C31C-A253-D28F-31DEBDF8E3B5}"/>
              </a:ext>
            </a:extLst>
          </p:cNvPr>
          <p:cNvSpPr txBox="1"/>
          <p:nvPr/>
        </p:nvSpPr>
        <p:spPr>
          <a:xfrm>
            <a:off x="7346106" y="1605048"/>
            <a:ext cx="4381242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--output= </a:t>
            </a:r>
          </a:p>
          <a:p>
            <a:endParaRPr lang="en-US" dirty="0"/>
          </a:p>
          <a:p>
            <a:r>
              <a:rPr lang="en-US" dirty="0"/>
              <a:t>Name and location of output file (all output that would be printed to the screen if you ran your script directly in the terminal will be stored here)</a:t>
            </a:r>
          </a:p>
          <a:p>
            <a:endParaRPr lang="en-US" dirty="0"/>
          </a:p>
          <a:p>
            <a:r>
              <a:rPr lang="en-US" dirty="0"/>
              <a:t>If you do not specify a separate  error file, errors will also be written to your output file.</a:t>
            </a:r>
          </a:p>
          <a:p>
            <a:endParaRPr lang="en-US" dirty="0"/>
          </a:p>
          <a:p>
            <a:r>
              <a:rPr lang="en-US" dirty="0"/>
              <a:t>%x   =   Job name (taken from --job-name=)</a:t>
            </a:r>
          </a:p>
          <a:p>
            <a:r>
              <a:rPr lang="en-US" dirty="0"/>
              <a:t>%j    =   Job ID (allocated upon submission)</a:t>
            </a:r>
          </a:p>
          <a:p>
            <a:endParaRPr lang="en-US" dirty="0"/>
          </a:p>
          <a:p>
            <a:r>
              <a:rPr lang="en-US" dirty="0"/>
              <a:t>Note: you cannot use ~ as shorthand for your home directory here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05198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31249-D8AC-FCB8-278A-6F259B0E8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45B3D-7DA1-DAAC-89B6-A3D256CF25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4143"/>
            <a:ext cx="9144000" cy="557441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Every job needs a job submission script: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0D96E1-54E4-FD49-62E5-FABA0814DA51}"/>
              </a:ext>
            </a:extLst>
          </p:cNvPr>
          <p:cNvSpPr txBox="1"/>
          <p:nvPr/>
        </p:nvSpPr>
        <p:spPr>
          <a:xfrm>
            <a:off x="464652" y="1343888"/>
            <a:ext cx="6504183" cy="4801314"/>
          </a:xfrm>
          <a:prstGeom prst="rect">
            <a:avLst/>
          </a:prstGeom>
          <a:solidFill>
            <a:schemeClr val="accent1">
              <a:alpha val="16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#!/bin/bash</a:t>
            </a:r>
          </a:p>
          <a:p>
            <a:endParaRPr lang="en-US" dirty="0"/>
          </a:p>
          <a:p>
            <a:r>
              <a:rPr lang="en-US" dirty="0"/>
              <a:t>#SBATCH --partition=</a:t>
            </a:r>
            <a:r>
              <a:rPr lang="en-US" dirty="0" err="1"/>
              <a:t>defq</a:t>
            </a:r>
            <a:endParaRPr lang="en-US" dirty="0"/>
          </a:p>
          <a:p>
            <a:r>
              <a:rPr lang="en-US" dirty="0"/>
              <a:t>#SBATCH --nodes=1</a:t>
            </a:r>
          </a:p>
          <a:p>
            <a:r>
              <a:rPr lang="en-US" dirty="0"/>
              <a:t>#SBATCH --</a:t>
            </a:r>
            <a:r>
              <a:rPr lang="en-US" dirty="0" err="1"/>
              <a:t>ntasks</a:t>
            </a:r>
            <a:r>
              <a:rPr lang="en-US" dirty="0"/>
              <a:t>=1</a:t>
            </a:r>
          </a:p>
          <a:p>
            <a:r>
              <a:rPr lang="en-US" dirty="0"/>
              <a:t>#SBATCH --</a:t>
            </a:r>
            <a:r>
              <a:rPr lang="en-US" dirty="0" err="1"/>
              <a:t>cpus</a:t>
            </a:r>
            <a:r>
              <a:rPr lang="en-US" dirty="0"/>
              <a:t>-per-task=8</a:t>
            </a:r>
          </a:p>
          <a:p>
            <a:r>
              <a:rPr lang="en-US" dirty="0"/>
              <a:t>#SBATCH --mem=5g</a:t>
            </a:r>
          </a:p>
          <a:p>
            <a:r>
              <a:rPr lang="en-US" dirty="0"/>
              <a:t>#SBATCH --time=00:10:00</a:t>
            </a:r>
          </a:p>
          <a:p>
            <a:r>
              <a:rPr lang="en-US" dirty="0"/>
              <a:t>#SBATCH --job-name=</a:t>
            </a:r>
            <a:r>
              <a:rPr lang="en-US" dirty="0" err="1"/>
              <a:t>my_job</a:t>
            </a:r>
            <a:endParaRPr lang="en-US" dirty="0"/>
          </a:p>
          <a:p>
            <a:r>
              <a:rPr lang="en-US" dirty="0"/>
              <a:t>#SBATCH --output=/gpfs01/home/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/>
              <a:t>/</a:t>
            </a:r>
            <a:r>
              <a:rPr lang="en-US" dirty="0" err="1"/>
              <a:t>slurm</a:t>
            </a:r>
            <a:r>
              <a:rPr lang="en-US" dirty="0"/>
              <a:t>-%x-%</a:t>
            </a:r>
            <a:r>
              <a:rPr lang="en-US" dirty="0" err="1"/>
              <a:t>j.out</a:t>
            </a:r>
            <a:endParaRPr lang="en-US" dirty="0"/>
          </a:p>
          <a:p>
            <a:r>
              <a:rPr lang="en-US" dirty="0"/>
              <a:t>#SBATCH --error=/gpfs01/home/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/>
              <a:t>/</a:t>
            </a:r>
            <a:r>
              <a:rPr lang="en-US" dirty="0" err="1"/>
              <a:t>slurm</a:t>
            </a:r>
            <a:r>
              <a:rPr lang="en-US" dirty="0"/>
              <a:t>-%x-%</a:t>
            </a:r>
            <a:r>
              <a:rPr lang="en-US" dirty="0" err="1"/>
              <a:t>j.err</a:t>
            </a:r>
            <a:endParaRPr lang="en-US" dirty="0"/>
          </a:p>
          <a:p>
            <a:r>
              <a:rPr lang="en-US" dirty="0"/>
              <a:t>#SBATCH --mail-type=ALL</a:t>
            </a:r>
          </a:p>
          <a:p>
            <a:r>
              <a:rPr lang="en-US" dirty="0"/>
              <a:t>#SBATCH --mail-user=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 err="1"/>
              <a:t>@exmail.nottingham.ac.uk</a:t>
            </a:r>
            <a:endParaRPr lang="en-US" dirty="0"/>
          </a:p>
          <a:p>
            <a:endParaRPr lang="en-US" dirty="0"/>
          </a:p>
          <a:p>
            <a:r>
              <a:rPr lang="en-US" dirty="0"/>
              <a:t># Write out a test file to check our job ran</a:t>
            </a:r>
          </a:p>
          <a:p>
            <a:r>
              <a:rPr lang="en-US" dirty="0"/>
              <a:t>echo “hello world” &gt; ~/</a:t>
            </a:r>
            <a:r>
              <a:rPr lang="en-US" dirty="0" err="1"/>
              <a:t>our_test_output.txt</a:t>
            </a:r>
            <a:endParaRPr lang="en-US" dirty="0"/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3B3C48-8CC9-B65D-B738-E1BE6393D897}"/>
              </a:ext>
            </a:extLst>
          </p:cNvPr>
          <p:cNvSpPr txBox="1"/>
          <p:nvPr/>
        </p:nvSpPr>
        <p:spPr>
          <a:xfrm>
            <a:off x="430009" y="923142"/>
            <a:ext cx="3286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 job submission script: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501849D-D0D1-C06B-4D86-9943B3B4FAC4}"/>
              </a:ext>
            </a:extLst>
          </p:cNvPr>
          <p:cNvSpPr txBox="1"/>
          <p:nvPr/>
        </p:nvSpPr>
        <p:spPr>
          <a:xfrm>
            <a:off x="430009" y="6418830"/>
            <a:ext cx="115680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NOTE: My username is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sz="1600" dirty="0"/>
              <a:t> – where you see this in the scripts you will need to replace it with your own university username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63D19C3-8E9B-B098-6F05-9B4858E1AD2F}"/>
              </a:ext>
            </a:extLst>
          </p:cNvPr>
          <p:cNvSpPr/>
          <p:nvPr/>
        </p:nvSpPr>
        <p:spPr>
          <a:xfrm>
            <a:off x="249382" y="4087115"/>
            <a:ext cx="6386945" cy="338554"/>
          </a:xfrm>
          <a:prstGeom prst="rect">
            <a:avLst/>
          </a:prstGeom>
          <a:solidFill>
            <a:schemeClr val="accent1">
              <a:alpha val="42761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143F75-2C89-A44E-E033-679B0F180B7E}"/>
              </a:ext>
            </a:extLst>
          </p:cNvPr>
          <p:cNvSpPr txBox="1"/>
          <p:nvPr/>
        </p:nvSpPr>
        <p:spPr>
          <a:xfrm>
            <a:off x="7346106" y="1620887"/>
            <a:ext cx="438124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--error= </a:t>
            </a:r>
          </a:p>
          <a:p>
            <a:endParaRPr lang="en-US" dirty="0"/>
          </a:p>
          <a:p>
            <a:r>
              <a:rPr lang="en-US" dirty="0"/>
              <a:t>OPTIONAL: Name and location of error file (any errors that would be printed to the screen if you ran your script directly in the terminal will be stored here)</a:t>
            </a:r>
          </a:p>
          <a:p>
            <a:endParaRPr lang="en-US" dirty="0"/>
          </a:p>
          <a:p>
            <a:r>
              <a:rPr lang="en-US" dirty="0"/>
              <a:t>If you do not specify a separate  error file, errors will be written to your output file.</a:t>
            </a:r>
          </a:p>
          <a:p>
            <a:endParaRPr lang="en-US" dirty="0"/>
          </a:p>
          <a:p>
            <a:r>
              <a:rPr lang="en-US" dirty="0"/>
              <a:t>%x   =   Job name (taken from --job-name=)</a:t>
            </a:r>
          </a:p>
          <a:p>
            <a:r>
              <a:rPr lang="en-US" dirty="0"/>
              <a:t>%j    =   Job ID (allocated upon submission)</a:t>
            </a:r>
          </a:p>
          <a:p>
            <a:endParaRPr lang="en-US" dirty="0"/>
          </a:p>
          <a:p>
            <a:r>
              <a:rPr lang="en-US" dirty="0"/>
              <a:t>Note: you cannot use ~ as shorthand for your home directory here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50321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23E34-0045-FD89-C4DF-C7714BC8D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74859-E408-7F05-A6B4-40498D348A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4143"/>
            <a:ext cx="9144000" cy="557441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Every job needs a job submission script: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469466-383E-8D2B-27AD-80A9DE68EE0F}"/>
              </a:ext>
            </a:extLst>
          </p:cNvPr>
          <p:cNvSpPr txBox="1"/>
          <p:nvPr/>
        </p:nvSpPr>
        <p:spPr>
          <a:xfrm>
            <a:off x="464652" y="1343888"/>
            <a:ext cx="6504183" cy="4801314"/>
          </a:xfrm>
          <a:prstGeom prst="rect">
            <a:avLst/>
          </a:prstGeom>
          <a:solidFill>
            <a:schemeClr val="accent1">
              <a:alpha val="16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#!/bin/bash</a:t>
            </a:r>
          </a:p>
          <a:p>
            <a:endParaRPr lang="en-US" dirty="0"/>
          </a:p>
          <a:p>
            <a:r>
              <a:rPr lang="en-US" dirty="0"/>
              <a:t>#SBATCH --partition=</a:t>
            </a:r>
            <a:r>
              <a:rPr lang="en-US" dirty="0" err="1"/>
              <a:t>defq</a:t>
            </a:r>
            <a:endParaRPr lang="en-US" dirty="0"/>
          </a:p>
          <a:p>
            <a:r>
              <a:rPr lang="en-US" dirty="0"/>
              <a:t>#SBATCH --nodes=1</a:t>
            </a:r>
          </a:p>
          <a:p>
            <a:r>
              <a:rPr lang="en-US" dirty="0"/>
              <a:t>#SBATCH --</a:t>
            </a:r>
            <a:r>
              <a:rPr lang="en-US" dirty="0" err="1"/>
              <a:t>ntasks</a:t>
            </a:r>
            <a:r>
              <a:rPr lang="en-US" dirty="0"/>
              <a:t>=1</a:t>
            </a:r>
          </a:p>
          <a:p>
            <a:r>
              <a:rPr lang="en-US" dirty="0"/>
              <a:t>#SBATCH --</a:t>
            </a:r>
            <a:r>
              <a:rPr lang="en-US" dirty="0" err="1"/>
              <a:t>cpus</a:t>
            </a:r>
            <a:r>
              <a:rPr lang="en-US" dirty="0"/>
              <a:t>-per-task=8</a:t>
            </a:r>
          </a:p>
          <a:p>
            <a:r>
              <a:rPr lang="en-US" dirty="0"/>
              <a:t>#SBATCH --mem=5g</a:t>
            </a:r>
          </a:p>
          <a:p>
            <a:r>
              <a:rPr lang="en-US" dirty="0"/>
              <a:t>#SBATCH --time=00:10:00</a:t>
            </a:r>
          </a:p>
          <a:p>
            <a:r>
              <a:rPr lang="en-US" dirty="0"/>
              <a:t>#SBATCH --job-name=</a:t>
            </a:r>
            <a:r>
              <a:rPr lang="en-US" dirty="0" err="1"/>
              <a:t>my_job</a:t>
            </a:r>
            <a:endParaRPr lang="en-US" dirty="0"/>
          </a:p>
          <a:p>
            <a:r>
              <a:rPr lang="en-US" dirty="0"/>
              <a:t>#SBATCH --output=/gpfs01/home/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/>
              <a:t>/</a:t>
            </a:r>
            <a:r>
              <a:rPr lang="en-US" dirty="0" err="1"/>
              <a:t>slurm</a:t>
            </a:r>
            <a:r>
              <a:rPr lang="en-US" dirty="0"/>
              <a:t>-%x-%</a:t>
            </a:r>
            <a:r>
              <a:rPr lang="en-US" dirty="0" err="1"/>
              <a:t>j.out</a:t>
            </a:r>
            <a:endParaRPr lang="en-US" dirty="0"/>
          </a:p>
          <a:p>
            <a:r>
              <a:rPr lang="en-US" dirty="0"/>
              <a:t>#SBATCH --error=/gpfs01/home/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/>
              <a:t>/</a:t>
            </a:r>
            <a:r>
              <a:rPr lang="en-US" dirty="0" err="1"/>
              <a:t>slurm</a:t>
            </a:r>
            <a:r>
              <a:rPr lang="en-US" dirty="0"/>
              <a:t>-%x-%</a:t>
            </a:r>
            <a:r>
              <a:rPr lang="en-US" dirty="0" err="1"/>
              <a:t>j.err</a:t>
            </a:r>
            <a:endParaRPr lang="en-US" dirty="0"/>
          </a:p>
          <a:p>
            <a:r>
              <a:rPr lang="en-US" dirty="0"/>
              <a:t>#SBATCH --mail-type=ALL</a:t>
            </a:r>
          </a:p>
          <a:p>
            <a:r>
              <a:rPr lang="en-US" dirty="0"/>
              <a:t>#SBATCH --mail-user=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 err="1"/>
              <a:t>@exmail.nottingham.ac.uk</a:t>
            </a:r>
            <a:endParaRPr lang="en-US" dirty="0"/>
          </a:p>
          <a:p>
            <a:endParaRPr lang="en-US" dirty="0"/>
          </a:p>
          <a:p>
            <a:r>
              <a:rPr lang="en-US" dirty="0"/>
              <a:t># Write out a test file to check our job ran</a:t>
            </a:r>
          </a:p>
          <a:p>
            <a:r>
              <a:rPr lang="en-US" dirty="0"/>
              <a:t>echo “hello world” &gt; ~/</a:t>
            </a:r>
            <a:r>
              <a:rPr lang="en-US" dirty="0" err="1"/>
              <a:t>our_test_output.txt</a:t>
            </a:r>
            <a:endParaRPr lang="en-US" dirty="0"/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31F4EA-EDEB-7888-C3A3-67C0D6836C07}"/>
              </a:ext>
            </a:extLst>
          </p:cNvPr>
          <p:cNvSpPr txBox="1"/>
          <p:nvPr/>
        </p:nvSpPr>
        <p:spPr>
          <a:xfrm>
            <a:off x="430009" y="923142"/>
            <a:ext cx="3286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 job submission script: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285F73-26C4-0E11-E4FA-E70066795833}"/>
              </a:ext>
            </a:extLst>
          </p:cNvPr>
          <p:cNvSpPr txBox="1"/>
          <p:nvPr/>
        </p:nvSpPr>
        <p:spPr>
          <a:xfrm>
            <a:off x="430009" y="6418830"/>
            <a:ext cx="115680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NOTE: My username is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sz="1600" dirty="0"/>
              <a:t> – where you see this in the scripts you will need to replace it with your own university username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DE605FA-1050-E4FF-46FA-7EE95757F992}"/>
              </a:ext>
            </a:extLst>
          </p:cNvPr>
          <p:cNvSpPr/>
          <p:nvPr/>
        </p:nvSpPr>
        <p:spPr>
          <a:xfrm>
            <a:off x="249382" y="4364209"/>
            <a:ext cx="6386945" cy="651136"/>
          </a:xfrm>
          <a:prstGeom prst="rect">
            <a:avLst/>
          </a:prstGeom>
          <a:solidFill>
            <a:schemeClr val="accent1">
              <a:alpha val="42761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0198D1-8229-DE54-3EC0-8BB72C448846}"/>
              </a:ext>
            </a:extLst>
          </p:cNvPr>
          <p:cNvSpPr txBox="1"/>
          <p:nvPr/>
        </p:nvSpPr>
        <p:spPr>
          <a:xfrm>
            <a:off x="7346106" y="1897885"/>
            <a:ext cx="438124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--mail-type=ALL</a:t>
            </a:r>
          </a:p>
          <a:p>
            <a:r>
              <a:rPr lang="en-US" dirty="0"/>
              <a:t>--mail-user= </a:t>
            </a:r>
          </a:p>
          <a:p>
            <a:endParaRPr lang="en-US" dirty="0"/>
          </a:p>
          <a:p>
            <a:r>
              <a:rPr lang="en-US" dirty="0"/>
              <a:t>OPTIONAL: include both these lines and replace my username with yours if you want the system to send you an email when your job starts running and when it completes.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12158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381F3-264D-D409-54B2-BA42585F8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C47C4-5965-2A30-E015-5799FB849A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4143"/>
            <a:ext cx="9144000" cy="557441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Every job needs a job submission script: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3E6C49-1741-D3C3-D869-74B15CA338C0}"/>
              </a:ext>
            </a:extLst>
          </p:cNvPr>
          <p:cNvSpPr txBox="1"/>
          <p:nvPr/>
        </p:nvSpPr>
        <p:spPr>
          <a:xfrm>
            <a:off x="464652" y="1343888"/>
            <a:ext cx="6504183" cy="4801314"/>
          </a:xfrm>
          <a:prstGeom prst="rect">
            <a:avLst/>
          </a:prstGeom>
          <a:solidFill>
            <a:schemeClr val="accent1">
              <a:alpha val="16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#!/bin/bash</a:t>
            </a:r>
          </a:p>
          <a:p>
            <a:endParaRPr lang="en-US" dirty="0"/>
          </a:p>
          <a:p>
            <a:r>
              <a:rPr lang="en-US" dirty="0"/>
              <a:t>#SBATCH --partition=</a:t>
            </a:r>
            <a:r>
              <a:rPr lang="en-US" dirty="0" err="1"/>
              <a:t>defq</a:t>
            </a:r>
            <a:endParaRPr lang="en-US" dirty="0"/>
          </a:p>
          <a:p>
            <a:r>
              <a:rPr lang="en-US" dirty="0"/>
              <a:t>#SBATCH --nodes=1</a:t>
            </a:r>
          </a:p>
          <a:p>
            <a:r>
              <a:rPr lang="en-US" dirty="0"/>
              <a:t>#SBATCH --</a:t>
            </a:r>
            <a:r>
              <a:rPr lang="en-US" dirty="0" err="1"/>
              <a:t>ntasks</a:t>
            </a:r>
            <a:r>
              <a:rPr lang="en-US" dirty="0"/>
              <a:t>=1</a:t>
            </a:r>
          </a:p>
          <a:p>
            <a:r>
              <a:rPr lang="en-US" dirty="0"/>
              <a:t>#SBATCH --</a:t>
            </a:r>
            <a:r>
              <a:rPr lang="en-US" dirty="0" err="1"/>
              <a:t>cpus</a:t>
            </a:r>
            <a:r>
              <a:rPr lang="en-US" dirty="0"/>
              <a:t>-per-task=8</a:t>
            </a:r>
          </a:p>
          <a:p>
            <a:r>
              <a:rPr lang="en-US" dirty="0"/>
              <a:t>#SBATCH --mem=5g</a:t>
            </a:r>
          </a:p>
          <a:p>
            <a:r>
              <a:rPr lang="en-US" dirty="0"/>
              <a:t>#SBATCH --time=00:10:00</a:t>
            </a:r>
          </a:p>
          <a:p>
            <a:r>
              <a:rPr lang="en-US" dirty="0"/>
              <a:t>#SBATCH --job-name=</a:t>
            </a:r>
            <a:r>
              <a:rPr lang="en-US" dirty="0" err="1"/>
              <a:t>my_job</a:t>
            </a:r>
            <a:endParaRPr lang="en-US" dirty="0"/>
          </a:p>
          <a:p>
            <a:r>
              <a:rPr lang="en-US" dirty="0"/>
              <a:t>#SBATCH --output=/gpfs01/home/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/>
              <a:t>/</a:t>
            </a:r>
            <a:r>
              <a:rPr lang="en-US" dirty="0" err="1"/>
              <a:t>slurm</a:t>
            </a:r>
            <a:r>
              <a:rPr lang="en-US" dirty="0"/>
              <a:t>-%x-%</a:t>
            </a:r>
            <a:r>
              <a:rPr lang="en-US" dirty="0" err="1"/>
              <a:t>j.out</a:t>
            </a:r>
            <a:endParaRPr lang="en-US" dirty="0"/>
          </a:p>
          <a:p>
            <a:r>
              <a:rPr lang="en-US" dirty="0"/>
              <a:t>#SBATCH --error=/gpfs01/home/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/>
              <a:t>/</a:t>
            </a:r>
            <a:r>
              <a:rPr lang="en-US" dirty="0" err="1"/>
              <a:t>slurm</a:t>
            </a:r>
            <a:r>
              <a:rPr lang="en-US" dirty="0"/>
              <a:t>-%x-%</a:t>
            </a:r>
            <a:r>
              <a:rPr lang="en-US" dirty="0" err="1"/>
              <a:t>j.err</a:t>
            </a:r>
            <a:endParaRPr lang="en-US" dirty="0"/>
          </a:p>
          <a:p>
            <a:r>
              <a:rPr lang="en-US" dirty="0"/>
              <a:t>#SBATCH --mail-type=ALL</a:t>
            </a:r>
          </a:p>
          <a:p>
            <a:r>
              <a:rPr lang="en-US" dirty="0"/>
              <a:t>#SBATCH --mail-user=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 err="1"/>
              <a:t>@exmail.nottingham.ac.uk</a:t>
            </a:r>
            <a:endParaRPr lang="en-US" dirty="0"/>
          </a:p>
          <a:p>
            <a:endParaRPr lang="en-US" dirty="0"/>
          </a:p>
          <a:p>
            <a:r>
              <a:rPr lang="en-US" dirty="0"/>
              <a:t># Write out a test file to check our job ran</a:t>
            </a:r>
          </a:p>
          <a:p>
            <a:r>
              <a:rPr lang="en-US" dirty="0"/>
              <a:t>echo “hello world” &gt; ~/</a:t>
            </a:r>
            <a:r>
              <a:rPr lang="en-US" dirty="0" err="1"/>
              <a:t>our_test_output.txt</a:t>
            </a:r>
            <a:endParaRPr lang="en-US" dirty="0"/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E82707-FA82-C7EE-F1F1-8ABF694A3F56}"/>
              </a:ext>
            </a:extLst>
          </p:cNvPr>
          <p:cNvSpPr txBox="1"/>
          <p:nvPr/>
        </p:nvSpPr>
        <p:spPr>
          <a:xfrm>
            <a:off x="430009" y="923142"/>
            <a:ext cx="3286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 job submission script: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783EE6F-61C8-F57B-4F4A-C79031AB0549}"/>
              </a:ext>
            </a:extLst>
          </p:cNvPr>
          <p:cNvSpPr txBox="1"/>
          <p:nvPr/>
        </p:nvSpPr>
        <p:spPr>
          <a:xfrm>
            <a:off x="430009" y="6418830"/>
            <a:ext cx="115680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NOTE: My username is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sz="1600" dirty="0"/>
              <a:t> – where you see this in the scripts you will need to replace it with your own university username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F20A21A-295D-76E7-AED4-957E6B318D29}"/>
              </a:ext>
            </a:extLst>
          </p:cNvPr>
          <p:cNvSpPr/>
          <p:nvPr/>
        </p:nvSpPr>
        <p:spPr>
          <a:xfrm>
            <a:off x="249382" y="5167778"/>
            <a:ext cx="6386945" cy="651136"/>
          </a:xfrm>
          <a:prstGeom prst="rect">
            <a:avLst/>
          </a:prstGeom>
          <a:solidFill>
            <a:schemeClr val="accent1">
              <a:alpha val="42761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0E3B76-127C-1FC0-E2DD-28B16C93DE31}"/>
              </a:ext>
            </a:extLst>
          </p:cNvPr>
          <p:cNvSpPr txBox="1"/>
          <p:nvPr/>
        </p:nvSpPr>
        <p:spPr>
          <a:xfrm>
            <a:off x="7734033" y="2690336"/>
            <a:ext cx="364054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main body of your script – the bit where you write what you want the script to do.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12880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965BF-0267-740F-DED0-2C6C1FFF0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086F8-039A-E92B-8D9D-A8DB7E4ED3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4143"/>
            <a:ext cx="9144000" cy="557441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Write your own: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41FC03-0AEB-9BFD-0215-8370F97D3FE9}"/>
              </a:ext>
            </a:extLst>
          </p:cNvPr>
          <p:cNvSpPr txBox="1"/>
          <p:nvPr/>
        </p:nvSpPr>
        <p:spPr>
          <a:xfrm>
            <a:off x="1112348" y="1189550"/>
            <a:ext cx="10203348" cy="4801314"/>
          </a:xfrm>
          <a:prstGeom prst="rect">
            <a:avLst/>
          </a:prstGeom>
          <a:solidFill>
            <a:schemeClr val="accent1">
              <a:alpha val="16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latin typeface="Monaco" pitchFamily="2" charset="77"/>
              </a:rPr>
              <a:t>#!/bin/bash</a:t>
            </a:r>
          </a:p>
          <a:p>
            <a:endParaRPr lang="en-US" dirty="0">
              <a:latin typeface="Monaco" pitchFamily="2" charset="77"/>
            </a:endParaRPr>
          </a:p>
          <a:p>
            <a:r>
              <a:rPr lang="en-US" dirty="0">
                <a:latin typeface="Monaco" pitchFamily="2" charset="77"/>
              </a:rPr>
              <a:t>#SBATCH --partition=</a:t>
            </a:r>
            <a:r>
              <a:rPr lang="en-US" dirty="0" err="1">
                <a:latin typeface="Monaco" pitchFamily="2" charset="77"/>
              </a:rPr>
              <a:t>defq</a:t>
            </a:r>
            <a:endParaRPr lang="en-US" dirty="0">
              <a:latin typeface="Monaco" pitchFamily="2" charset="77"/>
            </a:endParaRPr>
          </a:p>
          <a:p>
            <a:r>
              <a:rPr lang="en-US" dirty="0">
                <a:latin typeface="Monaco" pitchFamily="2" charset="77"/>
              </a:rPr>
              <a:t>#SBATCH --nodes=1</a:t>
            </a:r>
          </a:p>
          <a:p>
            <a:r>
              <a:rPr lang="en-US" dirty="0">
                <a:latin typeface="Monaco" pitchFamily="2" charset="77"/>
              </a:rPr>
              <a:t>#SBATCH --</a:t>
            </a:r>
            <a:r>
              <a:rPr lang="en-US" dirty="0" err="1">
                <a:latin typeface="Monaco" pitchFamily="2" charset="77"/>
              </a:rPr>
              <a:t>ntasks</a:t>
            </a:r>
            <a:r>
              <a:rPr lang="en-US" dirty="0">
                <a:latin typeface="Monaco" pitchFamily="2" charset="77"/>
              </a:rPr>
              <a:t>=1</a:t>
            </a:r>
          </a:p>
          <a:p>
            <a:r>
              <a:rPr lang="en-US" dirty="0">
                <a:latin typeface="Monaco" pitchFamily="2" charset="77"/>
              </a:rPr>
              <a:t>#SBATCH --</a:t>
            </a:r>
            <a:r>
              <a:rPr lang="en-US" dirty="0" err="1">
                <a:latin typeface="Monaco" pitchFamily="2" charset="77"/>
              </a:rPr>
              <a:t>cpus</a:t>
            </a:r>
            <a:r>
              <a:rPr lang="en-US" dirty="0">
                <a:latin typeface="Monaco" pitchFamily="2" charset="77"/>
              </a:rPr>
              <a:t>-per-task=1</a:t>
            </a:r>
          </a:p>
          <a:p>
            <a:r>
              <a:rPr lang="en-US" dirty="0">
                <a:latin typeface="Monaco" pitchFamily="2" charset="77"/>
              </a:rPr>
              <a:t>#SBATCH --mem=1g</a:t>
            </a:r>
          </a:p>
          <a:p>
            <a:r>
              <a:rPr lang="en-US" dirty="0">
                <a:latin typeface="Monaco" pitchFamily="2" charset="77"/>
              </a:rPr>
              <a:t>#SBATCH --time=00:05:00</a:t>
            </a:r>
          </a:p>
          <a:p>
            <a:r>
              <a:rPr lang="en-US" dirty="0">
                <a:latin typeface="Monaco" pitchFamily="2" charset="77"/>
              </a:rPr>
              <a:t>#SBATCH --job-name=</a:t>
            </a:r>
            <a:r>
              <a:rPr lang="en-US" dirty="0" err="1">
                <a:latin typeface="Monaco" pitchFamily="2" charset="77"/>
              </a:rPr>
              <a:t>my_job</a:t>
            </a:r>
            <a:endParaRPr lang="en-US" dirty="0">
              <a:latin typeface="Monaco" pitchFamily="2" charset="77"/>
            </a:endParaRPr>
          </a:p>
          <a:p>
            <a:r>
              <a:rPr lang="en-US" dirty="0">
                <a:latin typeface="Monaco" pitchFamily="2" charset="77"/>
              </a:rPr>
              <a:t>#SBATCH --output=/gpfs01/home/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Monaco" pitchFamily="2" charset="77"/>
              </a:rPr>
              <a:t>mbzlld</a:t>
            </a:r>
            <a:r>
              <a:rPr lang="en-US" dirty="0">
                <a:latin typeface="Monaco" pitchFamily="2" charset="77"/>
              </a:rPr>
              <a:t>/</a:t>
            </a:r>
            <a:r>
              <a:rPr lang="en-US" dirty="0" err="1">
                <a:latin typeface="Monaco" pitchFamily="2" charset="77"/>
              </a:rPr>
              <a:t>slurm</a:t>
            </a:r>
            <a:r>
              <a:rPr lang="en-US" dirty="0">
                <a:latin typeface="Monaco" pitchFamily="2" charset="77"/>
              </a:rPr>
              <a:t>-%x-%</a:t>
            </a:r>
            <a:r>
              <a:rPr lang="en-US" dirty="0" err="1">
                <a:latin typeface="Monaco" pitchFamily="2" charset="77"/>
              </a:rPr>
              <a:t>j.out</a:t>
            </a:r>
            <a:endParaRPr lang="en-US" dirty="0">
              <a:latin typeface="Monaco" pitchFamily="2" charset="77"/>
            </a:endParaRPr>
          </a:p>
          <a:p>
            <a:r>
              <a:rPr lang="en-US" dirty="0">
                <a:latin typeface="Monaco" pitchFamily="2" charset="77"/>
              </a:rPr>
              <a:t>#SBATCH --error=/gpfs01/home/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Monaco" pitchFamily="2" charset="77"/>
              </a:rPr>
              <a:t>mbzlld</a:t>
            </a:r>
            <a:r>
              <a:rPr lang="en-US" dirty="0">
                <a:latin typeface="Monaco" pitchFamily="2" charset="77"/>
              </a:rPr>
              <a:t>/</a:t>
            </a:r>
            <a:r>
              <a:rPr lang="en-US" dirty="0" err="1">
                <a:latin typeface="Monaco" pitchFamily="2" charset="77"/>
              </a:rPr>
              <a:t>slurm</a:t>
            </a:r>
            <a:r>
              <a:rPr lang="en-US" dirty="0">
                <a:latin typeface="Monaco" pitchFamily="2" charset="77"/>
              </a:rPr>
              <a:t>-%x-%</a:t>
            </a:r>
            <a:r>
              <a:rPr lang="en-US" dirty="0" err="1">
                <a:latin typeface="Monaco" pitchFamily="2" charset="77"/>
              </a:rPr>
              <a:t>j.err</a:t>
            </a:r>
            <a:endParaRPr lang="en-US" dirty="0">
              <a:latin typeface="Monaco" pitchFamily="2" charset="77"/>
            </a:endParaRPr>
          </a:p>
          <a:p>
            <a:r>
              <a:rPr lang="en-US" dirty="0">
                <a:latin typeface="Monaco" pitchFamily="2" charset="77"/>
              </a:rPr>
              <a:t>#SBATCH --mail-type=ALL</a:t>
            </a:r>
          </a:p>
          <a:p>
            <a:r>
              <a:rPr lang="en-US" dirty="0">
                <a:latin typeface="Monaco" pitchFamily="2" charset="77"/>
              </a:rPr>
              <a:t>#SBATCH --mail-user=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Monaco" pitchFamily="2" charset="77"/>
              </a:rPr>
              <a:t>mbzlld</a:t>
            </a:r>
            <a:r>
              <a:rPr lang="en-US" dirty="0" err="1">
                <a:latin typeface="Monaco" pitchFamily="2" charset="77"/>
              </a:rPr>
              <a:t>@exmail.nottingham.ac.uk</a:t>
            </a:r>
            <a:endParaRPr lang="en-US" dirty="0">
              <a:latin typeface="Monaco" pitchFamily="2" charset="77"/>
            </a:endParaRPr>
          </a:p>
          <a:p>
            <a:endParaRPr lang="en-US" dirty="0">
              <a:latin typeface="Monaco" pitchFamily="2" charset="77"/>
            </a:endParaRPr>
          </a:p>
          <a:p>
            <a:r>
              <a:rPr lang="en-US" dirty="0">
                <a:latin typeface="Monaco" pitchFamily="2" charset="77"/>
              </a:rPr>
              <a:t># Write out a test file to check our job ran</a:t>
            </a:r>
          </a:p>
          <a:p>
            <a:r>
              <a:rPr lang="en-US" dirty="0">
                <a:latin typeface="Monaco" pitchFamily="2" charset="77"/>
              </a:rPr>
              <a:t>echo “hello world” &gt; ~/</a:t>
            </a:r>
            <a:r>
              <a:rPr lang="en-US" dirty="0" err="1">
                <a:latin typeface="Monaco" pitchFamily="2" charset="77"/>
              </a:rPr>
              <a:t>our_test_output.txt</a:t>
            </a:r>
            <a:endParaRPr lang="en-US" dirty="0">
              <a:latin typeface="Monaco" pitchFamily="2" charset="77"/>
            </a:endParaRPr>
          </a:p>
          <a:p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0022F76-7B7D-AA28-7C8B-C355E9F141C8}"/>
              </a:ext>
            </a:extLst>
          </p:cNvPr>
          <p:cNvSpPr txBox="1"/>
          <p:nvPr/>
        </p:nvSpPr>
        <p:spPr>
          <a:xfrm>
            <a:off x="430009" y="6418830"/>
            <a:ext cx="115680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NOTE: My username is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sz="1600" dirty="0"/>
              <a:t> – where you see this in the scripts you will need to replace it with your own university username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DD1C00-A766-269D-12A5-9ED92E545C47}"/>
              </a:ext>
            </a:extLst>
          </p:cNvPr>
          <p:cNvSpPr txBox="1"/>
          <p:nvPr/>
        </p:nvSpPr>
        <p:spPr>
          <a:xfrm>
            <a:off x="1247426" y="762776"/>
            <a:ext cx="99490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 your preferred text editor to create a file named: </a:t>
            </a:r>
            <a:r>
              <a:rPr lang="en-US" dirty="0" err="1"/>
              <a:t>my_script</a:t>
            </a:r>
            <a:r>
              <a:rPr lang="en-US" dirty="0"/>
              <a:t> and type the text below into your file</a:t>
            </a:r>
          </a:p>
        </p:txBody>
      </p:sp>
    </p:spTree>
    <p:extLst>
      <p:ext uri="{BB962C8B-B14F-4D97-AF65-F5344CB8AC3E}">
        <p14:creationId xmlns:p14="http://schemas.microsoft.com/office/powerpoint/2010/main" val="10908026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569C92D-8B54-512C-6399-CEF36D6A26B8}"/>
              </a:ext>
            </a:extLst>
          </p:cNvPr>
          <p:cNvSpPr txBox="1"/>
          <p:nvPr/>
        </p:nvSpPr>
        <p:spPr>
          <a:xfrm>
            <a:off x="855310" y="2090172"/>
            <a:ext cx="7512835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GB" sz="2400" b="0" i="0" dirty="0" err="1">
                <a:solidFill>
                  <a:srgbClr val="323130"/>
                </a:solidFill>
                <a:effectLst/>
                <a:highlight>
                  <a:srgbClr val="FFFFFF"/>
                </a:highlight>
                <a:latin typeface="Monaco" pitchFamily="2" charset="77"/>
              </a:rPr>
              <a:t>sbatch</a:t>
            </a:r>
            <a:r>
              <a:rPr lang="en-GB" sz="2400" b="0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 - to submit a job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sz="2400" b="0" i="0" dirty="0" err="1">
                <a:solidFill>
                  <a:srgbClr val="323130"/>
                </a:solidFill>
                <a:effectLst/>
                <a:highlight>
                  <a:srgbClr val="FFFFFF"/>
                </a:highlight>
                <a:latin typeface="Monaco" pitchFamily="2" charset="77"/>
              </a:rPr>
              <a:t>squeue</a:t>
            </a:r>
            <a:r>
              <a:rPr lang="en-GB" sz="2400" b="0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 - to list jobs, and show status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sz="2400" dirty="0" err="1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scancel</a:t>
            </a:r>
            <a:r>
              <a:rPr lang="en-GB" sz="2400" b="0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 - to delete jobs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sz="2400" dirty="0" err="1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sinfo</a:t>
            </a:r>
            <a:r>
              <a:rPr lang="en-GB" sz="2400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 </a:t>
            </a:r>
            <a:r>
              <a:rPr lang="en-GB" sz="2400" b="0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- to show status of nodes and partitions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sz="2400" dirty="0" err="1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sacct</a:t>
            </a:r>
            <a:r>
              <a:rPr lang="en-GB" sz="2400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 </a:t>
            </a:r>
            <a:r>
              <a:rPr lang="en-GB" sz="2400" b="0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- to output resource information on jobs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sz="2400" dirty="0" err="1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srun</a:t>
            </a:r>
            <a:r>
              <a:rPr lang="en-GB" sz="2400" dirty="0">
                <a:solidFill>
                  <a:srgbClr val="323130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 – to request an interactive session on a compute node</a:t>
            </a:r>
            <a:endParaRPr lang="en-GB" sz="2400" b="0" i="0" dirty="0">
              <a:solidFill>
                <a:srgbClr val="323130"/>
              </a:solidFill>
              <a:effectLst/>
              <a:highlight>
                <a:srgbClr val="FFFFFF"/>
              </a:highlight>
              <a:latin typeface="Segoe UI" panose="020B0502040204020203" pitchFamily="34" charset="0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56331863-AEEB-BA7B-DFFA-0348A71F7A7E}"/>
              </a:ext>
            </a:extLst>
          </p:cNvPr>
          <p:cNvSpPr txBox="1">
            <a:spLocks/>
          </p:cNvSpPr>
          <p:nvPr/>
        </p:nvSpPr>
        <p:spPr>
          <a:xfrm>
            <a:off x="1524000" y="600581"/>
            <a:ext cx="9144000" cy="55744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 err="1"/>
              <a:t>UoN</a:t>
            </a:r>
            <a:r>
              <a:rPr lang="en-US" sz="3600" dirty="0"/>
              <a:t> HPC – Ada – SLURM commands:</a:t>
            </a:r>
          </a:p>
        </p:txBody>
      </p:sp>
      <p:pic>
        <p:nvPicPr>
          <p:cNvPr id="1028" name="Picture 4" descr="Slurm Workload Manager - Wikipedia">
            <a:extLst>
              <a:ext uri="{FF2B5EF4-FFF2-40B4-BE49-F238E27FC236}">
                <a16:creationId xmlns:a16="http://schemas.microsoft.com/office/drawing/2014/main" id="{703316E3-DCFA-8637-CE22-B479447B86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2649" y="2104027"/>
            <a:ext cx="2622695" cy="240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25244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3E4CD-B6D2-F93D-DE1B-D95120518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53E43-5379-CA1E-9FDA-40012BD26E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4143"/>
            <a:ext cx="9144000" cy="557441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How to submit and monitor your script: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0F0AB2-6F1D-169D-8582-86A8B1B5B01E}"/>
              </a:ext>
            </a:extLst>
          </p:cNvPr>
          <p:cNvSpPr txBox="1"/>
          <p:nvPr/>
        </p:nvSpPr>
        <p:spPr>
          <a:xfrm>
            <a:off x="2506073" y="1024396"/>
            <a:ext cx="7643631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+mj-lt"/>
              </a:rPr>
              <a:t>Submit your job script using the command:</a:t>
            </a:r>
          </a:p>
          <a:p>
            <a:r>
              <a:rPr lang="en-US" sz="2000" dirty="0" err="1">
                <a:latin typeface="Monaco" pitchFamily="2" charset="77"/>
              </a:rPr>
              <a:t>sbatch</a:t>
            </a:r>
            <a:r>
              <a:rPr lang="en-US" sz="2000" dirty="0">
                <a:latin typeface="Monaco" pitchFamily="2" charset="77"/>
              </a:rPr>
              <a:t> </a:t>
            </a:r>
            <a:r>
              <a:rPr lang="en-US" sz="2000" dirty="0" err="1">
                <a:latin typeface="Monaco" pitchFamily="2" charset="77"/>
              </a:rPr>
              <a:t>my_script</a:t>
            </a:r>
            <a:endParaRPr lang="en-US" sz="2000" dirty="0">
              <a:latin typeface="Monaco" pitchFamily="2" charset="77"/>
            </a:endParaRPr>
          </a:p>
          <a:p>
            <a:endParaRPr lang="en-US" sz="2000" dirty="0">
              <a:latin typeface="Monaco" pitchFamily="2" charset="77"/>
            </a:endParaRPr>
          </a:p>
          <a:p>
            <a:r>
              <a:rPr lang="en-US" sz="2000" dirty="0">
                <a:latin typeface="+mj-lt"/>
              </a:rPr>
              <a:t>Monitor your job using the command:</a:t>
            </a:r>
          </a:p>
          <a:p>
            <a:r>
              <a:rPr lang="en-US" sz="2000" dirty="0" err="1">
                <a:latin typeface="Monaco" pitchFamily="2" charset="77"/>
              </a:rPr>
              <a:t>squeue</a:t>
            </a:r>
            <a:r>
              <a:rPr lang="en-US" sz="2000" dirty="0">
                <a:latin typeface="Monaco" pitchFamily="2" charset="77"/>
              </a:rPr>
              <a:t> –l –u </a:t>
            </a:r>
            <a:r>
              <a:rPr lang="en-US" sz="2000" dirty="0">
                <a:solidFill>
                  <a:schemeClr val="accent3"/>
                </a:solidFill>
                <a:latin typeface="Monaco" pitchFamily="2" charset="77"/>
              </a:rPr>
              <a:t>username</a:t>
            </a:r>
          </a:p>
          <a:p>
            <a:endParaRPr lang="en-US" sz="2000" dirty="0">
              <a:solidFill>
                <a:schemeClr val="accent3"/>
              </a:solidFill>
              <a:latin typeface="Monaco" pitchFamily="2" charset="77"/>
            </a:endParaRPr>
          </a:p>
          <a:p>
            <a:endParaRPr lang="en-US" sz="2000" dirty="0">
              <a:solidFill>
                <a:schemeClr val="accent3"/>
              </a:solidFill>
              <a:latin typeface="Monaco" pitchFamily="2" charset="77"/>
            </a:endParaRPr>
          </a:p>
          <a:p>
            <a:endParaRPr lang="en-US" sz="2000" dirty="0">
              <a:solidFill>
                <a:schemeClr val="accent3"/>
              </a:solidFill>
              <a:latin typeface="Monaco" pitchFamily="2" charset="77"/>
            </a:endParaRPr>
          </a:p>
          <a:p>
            <a:endParaRPr lang="en-US" sz="2000" dirty="0">
              <a:solidFill>
                <a:schemeClr val="accent3"/>
              </a:solidFill>
              <a:latin typeface="Monaco" pitchFamily="2" charset="77"/>
            </a:endParaRPr>
          </a:p>
          <a:p>
            <a:endParaRPr lang="en-US" sz="2000" dirty="0">
              <a:solidFill>
                <a:schemeClr val="accent3"/>
              </a:solidFill>
              <a:latin typeface="Monaco" pitchFamily="2" charset="77"/>
            </a:endParaRPr>
          </a:p>
          <a:p>
            <a:endParaRPr lang="en-US" sz="2000" dirty="0">
              <a:solidFill>
                <a:schemeClr val="accent3"/>
              </a:solidFill>
              <a:latin typeface="Monaco" pitchFamily="2" charset="77"/>
            </a:endParaRPr>
          </a:p>
          <a:p>
            <a:endParaRPr lang="en-US" sz="2000" dirty="0">
              <a:solidFill>
                <a:schemeClr val="accent3"/>
              </a:solidFill>
              <a:latin typeface="Monaco" pitchFamily="2" charset="77"/>
            </a:endParaRPr>
          </a:p>
          <a:p>
            <a:r>
              <a:rPr lang="en-US" sz="2000" dirty="0">
                <a:latin typeface="+mj-lt"/>
              </a:rPr>
              <a:t>Cancel your job using the command:</a:t>
            </a:r>
          </a:p>
          <a:p>
            <a:r>
              <a:rPr lang="en-US" sz="2000" dirty="0" err="1">
                <a:latin typeface="Monaco" pitchFamily="2" charset="77"/>
              </a:rPr>
              <a:t>scancel</a:t>
            </a:r>
            <a:r>
              <a:rPr lang="en-US" sz="2000" dirty="0">
                <a:latin typeface="Monaco" pitchFamily="2" charset="77"/>
              </a:rPr>
              <a:t> </a:t>
            </a:r>
            <a:r>
              <a:rPr lang="en-US" sz="2000" dirty="0" err="1">
                <a:solidFill>
                  <a:schemeClr val="accent3"/>
                </a:solidFill>
                <a:latin typeface="Monaco" pitchFamily="2" charset="77"/>
              </a:rPr>
              <a:t>job_id_number</a:t>
            </a:r>
            <a:endParaRPr lang="en-US" sz="2000" dirty="0">
              <a:solidFill>
                <a:schemeClr val="accent3"/>
              </a:solidFill>
              <a:latin typeface="Monaco" pitchFamily="2" charset="77"/>
            </a:endParaRPr>
          </a:p>
          <a:p>
            <a:endParaRPr lang="en-US" sz="2000" dirty="0">
              <a:latin typeface="Monaco" pitchFamily="2" charset="77"/>
            </a:endParaRPr>
          </a:p>
          <a:p>
            <a:r>
              <a:rPr lang="en-US" sz="2000" dirty="0">
                <a:latin typeface="+mj-lt"/>
              </a:rPr>
              <a:t>(NOTE: the </a:t>
            </a:r>
            <a:r>
              <a:rPr lang="en-US" sz="2000" dirty="0" err="1">
                <a:latin typeface="+mj-lt"/>
              </a:rPr>
              <a:t>jobid</a:t>
            </a:r>
            <a:r>
              <a:rPr lang="en-US" sz="2000" dirty="0">
                <a:latin typeface="+mj-lt"/>
              </a:rPr>
              <a:t> number is in the first column of the output from </a:t>
            </a:r>
            <a:r>
              <a:rPr lang="en-US" sz="2000" dirty="0" err="1">
                <a:latin typeface="+mj-lt"/>
              </a:rPr>
              <a:t>squeue</a:t>
            </a:r>
            <a:r>
              <a:rPr lang="en-US" sz="2000" dirty="0">
                <a:latin typeface="+mj-lt"/>
              </a:rPr>
              <a:t>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23BC53E-CA53-6C43-7348-9D80497307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59306"/>
            <a:ext cx="12175142" cy="1162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6509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CE777-ABEB-6023-40DD-660DFBDCFE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1999" cy="727114"/>
          </a:xfrm>
        </p:spPr>
        <p:txBody>
          <a:bodyPr>
            <a:noAutofit/>
          </a:bodyPr>
          <a:lstStyle/>
          <a:p>
            <a:r>
              <a:rPr lang="en-US" sz="3600" dirty="0" err="1"/>
              <a:t>UoN</a:t>
            </a:r>
            <a:r>
              <a:rPr lang="en-US" sz="3600" dirty="0"/>
              <a:t> HPC – Ada – ‘</a:t>
            </a:r>
            <a:r>
              <a:rPr lang="en-US" sz="3600" dirty="0" err="1"/>
              <a:t>reasonlist</a:t>
            </a:r>
            <a:r>
              <a:rPr lang="en-US" sz="3600" dirty="0"/>
              <a:t>’ for pending jobs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6931D6D-6EE0-3E43-349E-79AE735E07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8220137"/>
              </p:ext>
            </p:extLst>
          </p:nvPr>
        </p:nvGraphicFramePr>
        <p:xfrm>
          <a:off x="2057400" y="2892548"/>
          <a:ext cx="8077199" cy="3454400"/>
        </p:xfrm>
        <a:graphic>
          <a:graphicData uri="http://schemas.openxmlformats.org/drawingml/2006/table">
            <a:tbl>
              <a:tblPr/>
              <a:tblGrid>
                <a:gridCol w="2096920">
                  <a:extLst>
                    <a:ext uri="{9D8B030D-6E8A-4147-A177-3AD203B41FA5}">
                      <a16:colId xmlns:a16="http://schemas.microsoft.com/office/drawing/2014/main" val="1532031908"/>
                    </a:ext>
                  </a:extLst>
                </a:gridCol>
                <a:gridCol w="5980279">
                  <a:extLst>
                    <a:ext uri="{9D8B030D-6E8A-4147-A177-3AD203B41FA5}">
                      <a16:colId xmlns:a16="http://schemas.microsoft.com/office/drawing/2014/main" val="6058458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fontAlgn="t"/>
                      <a:r>
                        <a:rPr lang="en-GB" b="1">
                          <a:solidFill>
                            <a:srgbClr val="242424"/>
                          </a:solidFill>
                          <a:effectLst/>
                        </a:rPr>
                        <a:t>REASON</a:t>
                      </a:r>
                      <a:endParaRPr lang="en-GB" b="0">
                        <a:solidFill>
                          <a:srgbClr val="242424"/>
                        </a:solidFill>
                        <a:effectLst/>
                      </a:endParaRPr>
                    </a:p>
                  </a:txBody>
                  <a:tcPr marL="50800" marR="50800" marT="50800" marB="50800">
                    <a:lnL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fontAlgn="t"/>
                      <a:r>
                        <a:rPr lang="en-GB" b="1">
                          <a:solidFill>
                            <a:srgbClr val="242424"/>
                          </a:solidFill>
                          <a:effectLst/>
                        </a:rPr>
                        <a:t>Description</a:t>
                      </a:r>
                      <a:endParaRPr lang="en-GB" b="0">
                        <a:solidFill>
                          <a:srgbClr val="242424"/>
                        </a:solidFill>
                        <a:effectLst/>
                      </a:endParaRPr>
                    </a:p>
                  </a:txBody>
                  <a:tcPr marL="50800" marR="50800" marT="50800" marB="50800">
                    <a:lnL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99186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fontAlgn="t"/>
                      <a:r>
                        <a:rPr lang="en-GB" b="0">
                          <a:solidFill>
                            <a:srgbClr val="242424"/>
                          </a:solidFill>
                          <a:effectLst/>
                        </a:rPr>
                        <a:t>Resources</a:t>
                      </a:r>
                    </a:p>
                  </a:txBody>
                  <a:tcPr marL="50800" marR="50800" marT="50800" marB="50800">
                    <a:lnL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fontAlgn="t"/>
                      <a:r>
                        <a:rPr lang="en-GB" b="0">
                          <a:solidFill>
                            <a:srgbClr val="242424"/>
                          </a:solidFill>
                          <a:effectLst/>
                        </a:rPr>
                        <a:t>All suitable resources are in use</a:t>
                      </a:r>
                    </a:p>
                  </a:txBody>
                  <a:tcPr marL="50800" marR="50800" marT="50800" marB="50800">
                    <a:lnL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1916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fontAlgn="t"/>
                      <a:r>
                        <a:rPr lang="en-GB" b="0">
                          <a:solidFill>
                            <a:srgbClr val="242424"/>
                          </a:solidFill>
                          <a:effectLst/>
                        </a:rPr>
                        <a:t>Priority</a:t>
                      </a:r>
                    </a:p>
                  </a:txBody>
                  <a:tcPr marL="50800" marR="50800" marT="50800" marB="50800">
                    <a:lnL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fontAlgn="t"/>
                      <a:r>
                        <a:rPr lang="en-GB" b="0">
                          <a:solidFill>
                            <a:srgbClr val="242424"/>
                          </a:solidFill>
                          <a:effectLst/>
                        </a:rPr>
                        <a:t>There are higher priority jobs in queue</a:t>
                      </a:r>
                    </a:p>
                  </a:txBody>
                  <a:tcPr marL="50800" marR="50800" marT="50800" marB="50800">
                    <a:lnL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885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fontAlgn="t"/>
                      <a:r>
                        <a:rPr lang="en-GB" b="0">
                          <a:solidFill>
                            <a:srgbClr val="242424"/>
                          </a:solidFill>
                          <a:effectLst/>
                        </a:rPr>
                        <a:t>AssocGrpCPULimit</a:t>
                      </a:r>
                    </a:p>
                  </a:txBody>
                  <a:tcPr marL="50800" marR="50800" marT="50800" marB="50800">
                    <a:lnL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fontAlgn="t"/>
                      <a:r>
                        <a:rPr lang="en-GB" b="0">
                          <a:solidFill>
                            <a:srgbClr val="242424"/>
                          </a:solidFill>
                          <a:effectLst/>
                        </a:rPr>
                        <a:t>The maximum number of CPU cores allowed for running jobs has been reached</a:t>
                      </a:r>
                    </a:p>
                  </a:txBody>
                  <a:tcPr marL="50800" marR="50800" marT="50800" marB="50800">
                    <a:lnL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05171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fontAlgn="t"/>
                      <a:r>
                        <a:rPr lang="en-GB" b="0" dirty="0" err="1">
                          <a:solidFill>
                            <a:srgbClr val="242424"/>
                          </a:solidFill>
                          <a:effectLst/>
                        </a:rPr>
                        <a:t>QOSMinMemory</a:t>
                      </a:r>
                      <a:endParaRPr lang="en-GB" b="0" dirty="0">
                        <a:solidFill>
                          <a:srgbClr val="242424"/>
                        </a:solidFill>
                        <a:effectLst/>
                      </a:endParaRPr>
                    </a:p>
                  </a:txBody>
                  <a:tcPr marL="50800" marR="50800" marT="50800" marB="50800">
                    <a:lnL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565"/>
                    </a:solidFill>
                  </a:tcPr>
                </a:tc>
                <a:tc>
                  <a:txBody>
                    <a:bodyPr/>
                    <a:lstStyle/>
                    <a:p>
                      <a:pPr marL="0" fontAlgn="t"/>
                      <a:r>
                        <a:rPr lang="en-GB" b="0">
                          <a:solidFill>
                            <a:srgbClr val="242424"/>
                          </a:solidFill>
                          <a:effectLst/>
                        </a:rPr>
                        <a:t>The memory has not been defined, or has been set too low with '--mem' option</a:t>
                      </a:r>
                    </a:p>
                  </a:txBody>
                  <a:tcPr marL="50800" marR="50800" marT="50800" marB="50800">
                    <a:lnL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56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4767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fontAlgn="t"/>
                      <a:r>
                        <a:rPr lang="en-GB" b="0">
                          <a:solidFill>
                            <a:srgbClr val="242424"/>
                          </a:solidFill>
                          <a:effectLst/>
                        </a:rPr>
                        <a:t>QOSNotAllowed</a:t>
                      </a:r>
                    </a:p>
                  </a:txBody>
                  <a:tcPr marL="50800" marR="50800" marT="50800" marB="50800">
                    <a:lnL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565"/>
                    </a:solidFill>
                  </a:tcPr>
                </a:tc>
                <a:tc>
                  <a:txBody>
                    <a:bodyPr/>
                    <a:lstStyle/>
                    <a:p>
                      <a:pPr marL="0" fontAlgn="t"/>
                      <a:r>
                        <a:rPr lang="en-GB" b="0" dirty="0">
                          <a:solidFill>
                            <a:srgbClr val="242424"/>
                          </a:solidFill>
                          <a:effectLst/>
                        </a:rPr>
                        <a:t>An inappropriate partition has been selected</a:t>
                      </a:r>
                    </a:p>
                  </a:txBody>
                  <a:tcPr marL="50800" marR="50800" marT="50800" marB="50800">
                    <a:lnL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56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63190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fontAlgn="t"/>
                      <a:r>
                        <a:rPr lang="en-GB" b="0">
                          <a:solidFill>
                            <a:srgbClr val="242424"/>
                          </a:solidFill>
                          <a:effectLst/>
                        </a:rPr>
                        <a:t>ReqNodeNotAvail</a:t>
                      </a:r>
                    </a:p>
                  </a:txBody>
                  <a:tcPr marL="50800" marR="50800" marT="50800" marB="50800">
                    <a:lnL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fontAlgn="t"/>
                      <a:r>
                        <a:rPr lang="en-GB" b="0" dirty="0">
                          <a:solidFill>
                            <a:srgbClr val="242424"/>
                          </a:solidFill>
                          <a:effectLst/>
                        </a:rPr>
                        <a:t>Nodes are not available to run jobs. This may mean there is scheduled maintenance time in the near future</a:t>
                      </a:r>
                    </a:p>
                  </a:txBody>
                  <a:tcPr marL="50800" marR="50800" marT="50800" marB="50800">
                    <a:lnL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889894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6D9E5AF-FBE8-BDB2-9474-7839E3682B88}"/>
              </a:ext>
            </a:extLst>
          </p:cNvPr>
          <p:cNvSpPr txBox="1"/>
          <p:nvPr/>
        </p:nvSpPr>
        <p:spPr>
          <a:xfrm>
            <a:off x="3047081" y="765548"/>
            <a:ext cx="609783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b="0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&gt; </a:t>
            </a:r>
            <a:r>
              <a:rPr lang="en-GB" sz="2000" b="0" i="0" dirty="0" err="1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squeue</a:t>
            </a:r>
            <a:r>
              <a:rPr lang="en-GB" sz="2000" b="0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 –l –u </a:t>
            </a:r>
            <a:r>
              <a:rPr lang="en-GB" sz="2000" b="0" i="0" dirty="0">
                <a:solidFill>
                  <a:schemeClr val="accent6">
                    <a:lumMod val="75000"/>
                  </a:schemeClr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username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D3D3887-0454-A4A3-63F9-677A23EF1D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" y="1322111"/>
            <a:ext cx="12175142" cy="1162671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F9D426DD-42EA-AB51-CC01-A1B980C844B4}"/>
              </a:ext>
            </a:extLst>
          </p:cNvPr>
          <p:cNvSpPr/>
          <p:nvPr/>
        </p:nvSpPr>
        <p:spPr>
          <a:xfrm>
            <a:off x="10051413" y="1322112"/>
            <a:ext cx="2130647" cy="1427574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6BDABE4-AABF-8B92-DDA6-8D972E43EFBE}"/>
              </a:ext>
            </a:extLst>
          </p:cNvPr>
          <p:cNvCxnSpPr>
            <a:cxnSpLocks/>
          </p:cNvCxnSpPr>
          <p:nvPr/>
        </p:nvCxnSpPr>
        <p:spPr>
          <a:xfrm flipH="1">
            <a:off x="10239153" y="2658140"/>
            <a:ext cx="382773" cy="584790"/>
          </a:xfrm>
          <a:prstGeom prst="straightConnector1">
            <a:avLst/>
          </a:prstGeom>
          <a:ln w="41275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55555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0A4B6-C849-A1AC-B62B-3BD6F328B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0A6AC1-911C-4F53-7B26-FECA59CFF7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5695"/>
            <a:ext cx="9144000" cy="557441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How to use Ada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C42D3C-505A-1178-0F19-A774B209A6DD}"/>
              </a:ext>
            </a:extLst>
          </p:cNvPr>
          <p:cNvSpPr txBox="1"/>
          <p:nvPr/>
        </p:nvSpPr>
        <p:spPr>
          <a:xfrm>
            <a:off x="1246908" y="1278648"/>
            <a:ext cx="10628415" cy="3917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ssh to login to a login node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submit jobs to compute nodes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OR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 err="1"/>
              <a:t>srun</a:t>
            </a:r>
            <a:r>
              <a:rPr lang="en-US" sz="2400" dirty="0"/>
              <a:t> for interactive job on compute node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OR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 err="1"/>
              <a:t>OpenOnDemand</a:t>
            </a:r>
            <a:r>
              <a:rPr lang="en-US" sz="2400" dirty="0"/>
              <a:t> – </a:t>
            </a:r>
            <a:r>
              <a:rPr lang="en-US" sz="2400" dirty="0" err="1"/>
              <a:t>vnc</a:t>
            </a:r>
            <a:r>
              <a:rPr lang="en-US" sz="2400" dirty="0"/>
              <a:t> session: super useful if you want to use a GUI (graphical user interface)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4DE6517-199C-D1B4-74E0-1DFA044B23F5}"/>
              </a:ext>
            </a:extLst>
          </p:cNvPr>
          <p:cNvSpPr/>
          <p:nvPr/>
        </p:nvSpPr>
        <p:spPr>
          <a:xfrm>
            <a:off x="316677" y="2909454"/>
            <a:ext cx="7877297" cy="734291"/>
          </a:xfrm>
          <a:prstGeom prst="rect">
            <a:avLst/>
          </a:prstGeom>
          <a:solidFill>
            <a:schemeClr val="accent1">
              <a:alpha val="47461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587DCD-1C8F-3D90-6D29-76BA6FF1A254}"/>
              </a:ext>
            </a:extLst>
          </p:cNvPr>
          <p:cNvSpPr txBox="1"/>
          <p:nvPr/>
        </p:nvSpPr>
        <p:spPr>
          <a:xfrm>
            <a:off x="495765" y="1524336"/>
            <a:ext cx="4587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9F0C52-3E4D-9AA3-56FC-96E88A4B886A}"/>
              </a:ext>
            </a:extLst>
          </p:cNvPr>
          <p:cNvSpPr txBox="1"/>
          <p:nvPr/>
        </p:nvSpPr>
        <p:spPr>
          <a:xfrm>
            <a:off x="495765" y="2883222"/>
            <a:ext cx="4587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0F68CE-961B-4A51-BE9E-E22C922EA20A}"/>
              </a:ext>
            </a:extLst>
          </p:cNvPr>
          <p:cNvSpPr txBox="1"/>
          <p:nvPr/>
        </p:nvSpPr>
        <p:spPr>
          <a:xfrm>
            <a:off x="495765" y="4271836"/>
            <a:ext cx="4587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048872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16D00-8D27-8BAB-5BBF-D8DA58A0C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A1BA0-6C89-E6D1-A9F8-9DAD4D37F1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1113"/>
            <a:ext cx="9144000" cy="557441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Using </a:t>
            </a:r>
            <a:r>
              <a:rPr lang="en-US" sz="3600" dirty="0" err="1"/>
              <a:t>srun</a:t>
            </a:r>
            <a:r>
              <a:rPr lang="en-US" sz="3600" dirty="0"/>
              <a:t> for an interactive session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869D43A-F1C6-2AD0-00CB-D4F02035F672}"/>
              </a:ext>
            </a:extLst>
          </p:cNvPr>
          <p:cNvGrpSpPr/>
          <p:nvPr/>
        </p:nvGrpSpPr>
        <p:grpSpPr>
          <a:xfrm>
            <a:off x="0" y="1195519"/>
            <a:ext cx="12330521" cy="4194376"/>
            <a:chOff x="0" y="1278648"/>
            <a:chExt cx="12330521" cy="419437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3F796A6-B0B7-D210-A2A0-A64D7B73B5D0}"/>
                </a:ext>
              </a:extLst>
            </p:cNvPr>
            <p:cNvSpPr txBox="1"/>
            <p:nvPr/>
          </p:nvSpPr>
          <p:spPr>
            <a:xfrm>
              <a:off x="0" y="1278648"/>
              <a:ext cx="12192000" cy="5001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sz="2000" dirty="0" err="1">
                  <a:latin typeface="Monaco" pitchFamily="2" charset="77"/>
                </a:rPr>
                <a:t>srun</a:t>
              </a:r>
              <a:r>
                <a:rPr lang="en-US" sz="2000" dirty="0">
                  <a:latin typeface="Monaco" pitchFamily="2" charset="77"/>
                </a:rPr>
                <a:t> --partition </a:t>
              </a:r>
              <a:r>
                <a:rPr lang="en-US" sz="2000" dirty="0" err="1">
                  <a:latin typeface="Monaco" pitchFamily="2" charset="77"/>
                </a:rPr>
                <a:t>defq</a:t>
              </a:r>
              <a:r>
                <a:rPr lang="en-US" sz="2000" dirty="0">
                  <a:latin typeface="Monaco" pitchFamily="2" charset="77"/>
                </a:rPr>
                <a:t> --</a:t>
              </a:r>
              <a:r>
                <a:rPr lang="en-US" sz="2000" dirty="0" err="1">
                  <a:latin typeface="Monaco" pitchFamily="2" charset="77"/>
                </a:rPr>
                <a:t>cpus</a:t>
              </a:r>
              <a:r>
                <a:rPr lang="en-US" sz="2000" dirty="0">
                  <a:latin typeface="Monaco" pitchFamily="2" charset="77"/>
                </a:rPr>
                <a:t>-per-task 1 --mem 1g --time 00:10:00 --</a:t>
              </a:r>
              <a:r>
                <a:rPr lang="en-US" sz="2000" dirty="0" err="1">
                  <a:latin typeface="Monaco" pitchFamily="2" charset="77"/>
                </a:rPr>
                <a:t>pty</a:t>
              </a:r>
              <a:r>
                <a:rPr lang="en-US" sz="2000" dirty="0">
                  <a:latin typeface="Monaco" pitchFamily="2" charset="77"/>
                </a:rPr>
                <a:t> bash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2BF4CF21-0C27-8DB3-FF67-E19EE6D3EE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50473" y="1925782"/>
              <a:ext cx="0" cy="70658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45D55C5-38AE-398A-8429-1D901F1C897A}"/>
                </a:ext>
              </a:extLst>
            </p:cNvPr>
            <p:cNvSpPr txBox="1"/>
            <p:nvPr/>
          </p:nvSpPr>
          <p:spPr>
            <a:xfrm>
              <a:off x="519551" y="2779361"/>
              <a:ext cx="306184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dirty="0">
                  <a:latin typeface="+mj-lt"/>
                </a:rPr>
                <a:t>Partition you would like to use</a:t>
              </a:r>
              <a:endParaRPr lang="en-US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7C665523-F88F-48D0-11D3-98AFEA4365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12317" y="1925782"/>
              <a:ext cx="0" cy="99753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1AF6DEF-015E-BDB7-FD68-1634500E12B6}"/>
                </a:ext>
              </a:extLst>
            </p:cNvPr>
            <p:cNvSpPr txBox="1"/>
            <p:nvPr/>
          </p:nvSpPr>
          <p:spPr>
            <a:xfrm>
              <a:off x="3581395" y="3070306"/>
              <a:ext cx="306184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800" dirty="0">
                  <a:latin typeface="+mj-lt"/>
                </a:rPr>
                <a:t>Number of cores you are requesting for your job</a:t>
              </a:r>
              <a:endParaRPr lang="en-US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C69AA07-7095-320C-F763-057BFDD6A67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18208" y="1925782"/>
              <a:ext cx="0" cy="160713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256EEF7-6B90-6192-CBD8-6F4834D1E321}"/>
                </a:ext>
              </a:extLst>
            </p:cNvPr>
            <p:cNvSpPr txBox="1"/>
            <p:nvPr/>
          </p:nvSpPr>
          <p:spPr>
            <a:xfrm>
              <a:off x="5687286" y="3721474"/>
              <a:ext cx="306184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800" dirty="0">
                  <a:latin typeface="+mj-lt"/>
                </a:rPr>
                <a:t>Amount of memory you are requesting for your job</a:t>
              </a:r>
              <a:endParaRPr lang="en-US" dirty="0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30F7918-17D2-D3F1-BB84-F3DB58DF53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24099" y="1925782"/>
              <a:ext cx="0" cy="2230586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CB2D39-0395-D645-DA1A-BD7A87159ACE}"/>
                </a:ext>
              </a:extLst>
            </p:cNvPr>
            <p:cNvSpPr txBox="1"/>
            <p:nvPr/>
          </p:nvSpPr>
          <p:spPr>
            <a:xfrm>
              <a:off x="7793177" y="4400347"/>
              <a:ext cx="306184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800" dirty="0">
                  <a:latin typeface="+mj-lt"/>
                </a:rPr>
                <a:t>Maximum runtime for your job</a:t>
              </a:r>
              <a:endParaRPr lang="en-US" dirty="0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FC56A12-A0C1-BB31-509F-D16F669A43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66754" y="1847258"/>
              <a:ext cx="0" cy="278016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094E64A-7BAE-4416-0A08-0109D04F4110}"/>
                </a:ext>
              </a:extLst>
            </p:cNvPr>
            <p:cNvSpPr txBox="1"/>
            <p:nvPr/>
          </p:nvSpPr>
          <p:spPr>
            <a:xfrm>
              <a:off x="10002986" y="4826693"/>
              <a:ext cx="232753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800" dirty="0">
                  <a:latin typeface="+mj-lt"/>
                </a:rPr>
                <a:t>Type of shell to run your job in</a:t>
              </a:r>
              <a:endParaRPr lang="en-US" dirty="0"/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836E8C99-4B0B-E69D-C402-9D1DAD3CA385}"/>
              </a:ext>
            </a:extLst>
          </p:cNvPr>
          <p:cNvSpPr txBox="1"/>
          <p:nvPr/>
        </p:nvSpPr>
        <p:spPr>
          <a:xfrm>
            <a:off x="1" y="673252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latin typeface="+mj-lt"/>
              </a:rPr>
              <a:t>(Options mostly similar to the </a:t>
            </a:r>
            <a:r>
              <a:rPr lang="en-US" sz="1800" dirty="0" err="1">
                <a:latin typeface="+mj-lt"/>
              </a:rPr>
              <a:t>sbatch</a:t>
            </a:r>
            <a:r>
              <a:rPr lang="en-US" sz="1800" dirty="0">
                <a:latin typeface="+mj-lt"/>
              </a:rPr>
              <a:t> command) NOTE: syntax difference, no = between flag and input</a:t>
            </a:r>
            <a:endParaRPr lang="en-US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79FB8F1A-74AE-6753-8EEE-F33E534A1D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03180"/>
            <a:ext cx="12192000" cy="1377205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598A7ED1-28A1-23C6-68AA-93E04F345746}"/>
              </a:ext>
            </a:extLst>
          </p:cNvPr>
          <p:cNvSpPr txBox="1"/>
          <p:nvPr/>
        </p:nvSpPr>
        <p:spPr>
          <a:xfrm>
            <a:off x="138545" y="5067624"/>
            <a:ext cx="117486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Example </a:t>
            </a:r>
            <a:r>
              <a:rPr lang="en-US" dirty="0" err="1"/>
              <a:t>srun</a:t>
            </a:r>
            <a:r>
              <a:rPr lang="en-US" dirty="0"/>
              <a:t> usage:</a:t>
            </a:r>
          </a:p>
        </p:txBody>
      </p:sp>
    </p:spTree>
    <p:extLst>
      <p:ext uri="{BB962C8B-B14F-4D97-AF65-F5344CB8AC3E}">
        <p14:creationId xmlns:p14="http://schemas.microsoft.com/office/powerpoint/2010/main" val="8980197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347F9-B217-98ED-48F5-57EF763FA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70D6-9F13-96C8-D930-7908F5EED2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5695"/>
            <a:ext cx="9144000" cy="557441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How to use Ada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B28BBA-32EC-581B-FAE1-4CE667E114D2}"/>
              </a:ext>
            </a:extLst>
          </p:cNvPr>
          <p:cNvSpPr txBox="1"/>
          <p:nvPr/>
        </p:nvSpPr>
        <p:spPr>
          <a:xfrm>
            <a:off x="1353786" y="1278648"/>
            <a:ext cx="10521537" cy="3917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ssh to login to a login node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submit jobs to compute nodes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OR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 err="1"/>
              <a:t>srun</a:t>
            </a:r>
            <a:r>
              <a:rPr lang="en-US" sz="2400" dirty="0"/>
              <a:t> for interactive job on compute node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OR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 err="1"/>
              <a:t>OpenOnDemand</a:t>
            </a:r>
            <a:r>
              <a:rPr lang="en-US" sz="2400" dirty="0"/>
              <a:t> – </a:t>
            </a:r>
            <a:r>
              <a:rPr lang="en-US" sz="2400" dirty="0" err="1"/>
              <a:t>vnc</a:t>
            </a:r>
            <a:r>
              <a:rPr lang="en-US" sz="2400" dirty="0"/>
              <a:t> session: super useful if you want to use a GUI (graphical user interface)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E809AEF-8510-4E86-E9D1-F9A397C253A9}"/>
              </a:ext>
            </a:extLst>
          </p:cNvPr>
          <p:cNvSpPr/>
          <p:nvPr/>
        </p:nvSpPr>
        <p:spPr>
          <a:xfrm>
            <a:off x="316677" y="4087093"/>
            <a:ext cx="11251867" cy="1274616"/>
          </a:xfrm>
          <a:prstGeom prst="rect">
            <a:avLst/>
          </a:prstGeom>
          <a:solidFill>
            <a:schemeClr val="accent1">
              <a:alpha val="47461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E05E78-DAFC-3FE8-61FF-C62AC742B754}"/>
              </a:ext>
            </a:extLst>
          </p:cNvPr>
          <p:cNvSpPr txBox="1"/>
          <p:nvPr/>
        </p:nvSpPr>
        <p:spPr>
          <a:xfrm>
            <a:off x="495765" y="1524336"/>
            <a:ext cx="4587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9C4896-1A56-6283-F0B1-B2E044E8504E}"/>
              </a:ext>
            </a:extLst>
          </p:cNvPr>
          <p:cNvSpPr txBox="1"/>
          <p:nvPr/>
        </p:nvSpPr>
        <p:spPr>
          <a:xfrm>
            <a:off x="495765" y="2883222"/>
            <a:ext cx="4587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3DE9B6-C75D-2B64-2FEF-0D645B0660E8}"/>
              </a:ext>
            </a:extLst>
          </p:cNvPr>
          <p:cNvSpPr txBox="1"/>
          <p:nvPr/>
        </p:nvSpPr>
        <p:spPr>
          <a:xfrm>
            <a:off x="495765" y="4271836"/>
            <a:ext cx="4587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9637243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EA78E-DB84-7896-8413-A2AC6B3C0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5C0C8-8EBF-8CE6-789E-A528C8C840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5695"/>
            <a:ext cx="9144000" cy="557441"/>
          </a:xfrm>
        </p:spPr>
        <p:txBody>
          <a:bodyPr>
            <a:normAutofit fontScale="90000"/>
          </a:bodyPr>
          <a:lstStyle/>
          <a:p>
            <a:r>
              <a:rPr lang="en-US" sz="3600" dirty="0" err="1"/>
              <a:t>OpenOnDemand</a:t>
            </a:r>
            <a:endParaRPr lang="en-US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F6267F-AC46-9087-9F2E-91E495B29F8B}"/>
              </a:ext>
            </a:extLst>
          </p:cNvPr>
          <p:cNvSpPr txBox="1"/>
          <p:nvPr/>
        </p:nvSpPr>
        <p:spPr>
          <a:xfrm>
            <a:off x="609251" y="554952"/>
            <a:ext cx="11361426" cy="5930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GB" sz="2400" b="1" i="0" u="sng" dirty="0">
                <a:solidFill>
                  <a:srgbClr val="03787C"/>
                </a:solidFill>
                <a:effectLst/>
                <a:latin typeface="Segoe UI" panose="020B0502040204020203" pitchFamily="34" charset="0"/>
                <a:hlinkClick r:id="rId3"/>
              </a:rPr>
              <a:t>https://hpcondemand01.ada.nottingham.ac.uk</a:t>
            </a:r>
            <a:endParaRPr lang="en-US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3DEFB32-8A10-7B68-CDBE-92A2CE5917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781" y="1202896"/>
            <a:ext cx="11058765" cy="5578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57229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8575B-F282-5454-CB30-4C4F0460A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76F4A-7FB9-A67D-DD5A-0632863B42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4143"/>
            <a:ext cx="9144000" cy="557441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Partitions on Ada: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28E86C-35AC-7766-3214-EDEF49BE47B4}"/>
              </a:ext>
            </a:extLst>
          </p:cNvPr>
          <p:cNvSpPr txBox="1"/>
          <p:nvPr/>
        </p:nvSpPr>
        <p:spPr>
          <a:xfrm>
            <a:off x="464652" y="1343888"/>
            <a:ext cx="6504183" cy="4801314"/>
          </a:xfrm>
          <a:prstGeom prst="rect">
            <a:avLst/>
          </a:prstGeom>
          <a:solidFill>
            <a:schemeClr val="accent1">
              <a:alpha val="16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#!/bin/bash</a:t>
            </a:r>
          </a:p>
          <a:p>
            <a:endParaRPr lang="en-US" dirty="0"/>
          </a:p>
          <a:p>
            <a:r>
              <a:rPr lang="en-US" dirty="0"/>
              <a:t>#SBATCH --partition=</a:t>
            </a:r>
            <a:r>
              <a:rPr lang="en-US" dirty="0" err="1"/>
              <a:t>defq</a:t>
            </a:r>
            <a:endParaRPr lang="en-US" dirty="0"/>
          </a:p>
          <a:p>
            <a:r>
              <a:rPr lang="en-US" dirty="0"/>
              <a:t>#SBATCH --nodes=1</a:t>
            </a:r>
          </a:p>
          <a:p>
            <a:r>
              <a:rPr lang="en-US" dirty="0"/>
              <a:t>#SBATCH --</a:t>
            </a:r>
            <a:r>
              <a:rPr lang="en-US" dirty="0" err="1"/>
              <a:t>ntasks</a:t>
            </a:r>
            <a:r>
              <a:rPr lang="en-US" dirty="0"/>
              <a:t>=1</a:t>
            </a:r>
          </a:p>
          <a:p>
            <a:r>
              <a:rPr lang="en-US" dirty="0"/>
              <a:t>#SBATCH --</a:t>
            </a:r>
            <a:r>
              <a:rPr lang="en-US" dirty="0" err="1"/>
              <a:t>cpus</a:t>
            </a:r>
            <a:r>
              <a:rPr lang="en-US" dirty="0"/>
              <a:t>-per-task=8</a:t>
            </a:r>
          </a:p>
          <a:p>
            <a:r>
              <a:rPr lang="en-US" dirty="0"/>
              <a:t>#SBATCH --mem=5g</a:t>
            </a:r>
          </a:p>
          <a:p>
            <a:r>
              <a:rPr lang="en-US" dirty="0"/>
              <a:t>#SBATCH --time=00:10:00</a:t>
            </a:r>
          </a:p>
          <a:p>
            <a:r>
              <a:rPr lang="en-US" dirty="0"/>
              <a:t>#SBATCH --job-name=</a:t>
            </a:r>
            <a:r>
              <a:rPr lang="en-US" dirty="0" err="1"/>
              <a:t>my_job</a:t>
            </a:r>
            <a:endParaRPr lang="en-US" dirty="0"/>
          </a:p>
          <a:p>
            <a:r>
              <a:rPr lang="en-US" dirty="0"/>
              <a:t>#SBATCH --output=/gpfs01/home/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/>
              <a:t>/</a:t>
            </a:r>
            <a:r>
              <a:rPr lang="en-US" dirty="0" err="1"/>
              <a:t>slurm</a:t>
            </a:r>
            <a:r>
              <a:rPr lang="en-US" dirty="0"/>
              <a:t>-%x-%</a:t>
            </a:r>
            <a:r>
              <a:rPr lang="en-US" dirty="0" err="1"/>
              <a:t>j.out</a:t>
            </a:r>
            <a:endParaRPr lang="en-US" dirty="0"/>
          </a:p>
          <a:p>
            <a:r>
              <a:rPr lang="en-US" dirty="0"/>
              <a:t>#SBATCH --error=/gpfs01/home/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/>
              <a:t>/</a:t>
            </a:r>
            <a:r>
              <a:rPr lang="en-US" dirty="0" err="1"/>
              <a:t>slurm</a:t>
            </a:r>
            <a:r>
              <a:rPr lang="en-US" dirty="0"/>
              <a:t>-%x-%</a:t>
            </a:r>
            <a:r>
              <a:rPr lang="en-US" dirty="0" err="1"/>
              <a:t>j.err</a:t>
            </a:r>
            <a:endParaRPr lang="en-US" dirty="0"/>
          </a:p>
          <a:p>
            <a:r>
              <a:rPr lang="en-US" dirty="0"/>
              <a:t>#SBATCH --mail-type=ALL</a:t>
            </a:r>
          </a:p>
          <a:p>
            <a:r>
              <a:rPr lang="en-US" dirty="0"/>
              <a:t>#SBATCH --mail-user=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dirty="0" err="1"/>
              <a:t>@exmail.nottingham.ac.uk</a:t>
            </a:r>
            <a:endParaRPr lang="en-US" dirty="0"/>
          </a:p>
          <a:p>
            <a:endParaRPr lang="en-US" dirty="0"/>
          </a:p>
          <a:p>
            <a:r>
              <a:rPr lang="en-US" dirty="0"/>
              <a:t># Write out a test file to check our job ran</a:t>
            </a:r>
          </a:p>
          <a:p>
            <a:r>
              <a:rPr lang="en-US" dirty="0"/>
              <a:t>echo “hello world” &gt; ~/</a:t>
            </a:r>
            <a:r>
              <a:rPr lang="en-US" dirty="0" err="1"/>
              <a:t>our_test_output.txt</a:t>
            </a:r>
            <a:endParaRPr lang="en-US" dirty="0"/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3CBB6F-B48B-2571-D2F5-D99F7DCDA4CD}"/>
              </a:ext>
            </a:extLst>
          </p:cNvPr>
          <p:cNvSpPr txBox="1"/>
          <p:nvPr/>
        </p:nvSpPr>
        <p:spPr>
          <a:xfrm>
            <a:off x="430009" y="923142"/>
            <a:ext cx="3286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 job submission script: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4AB3E78-09B6-71F8-4244-8852F85FC13E}"/>
              </a:ext>
            </a:extLst>
          </p:cNvPr>
          <p:cNvSpPr txBox="1"/>
          <p:nvPr/>
        </p:nvSpPr>
        <p:spPr>
          <a:xfrm>
            <a:off x="430009" y="6418830"/>
            <a:ext cx="115680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NOTE: My username is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</a:rPr>
              <a:t>mbzlld</a:t>
            </a:r>
            <a:r>
              <a:rPr lang="en-US" sz="1600" dirty="0"/>
              <a:t> – where you see this in the scripts you will need to replace it with your own university username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D36C31-7614-058A-48B2-2AC7E92C3BD8}"/>
              </a:ext>
            </a:extLst>
          </p:cNvPr>
          <p:cNvSpPr/>
          <p:nvPr/>
        </p:nvSpPr>
        <p:spPr>
          <a:xfrm>
            <a:off x="249382" y="1898073"/>
            <a:ext cx="3467361" cy="332509"/>
          </a:xfrm>
          <a:prstGeom prst="rect">
            <a:avLst/>
          </a:prstGeom>
          <a:solidFill>
            <a:schemeClr val="accent1">
              <a:alpha val="42761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53F004-35AC-0C4B-041F-A41CE914391F}"/>
              </a:ext>
            </a:extLst>
          </p:cNvPr>
          <p:cNvSpPr txBox="1"/>
          <p:nvPr/>
        </p:nvSpPr>
        <p:spPr>
          <a:xfrm>
            <a:off x="7561376" y="1898073"/>
            <a:ext cx="360538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--partition= </a:t>
            </a:r>
          </a:p>
          <a:p>
            <a:endParaRPr lang="en-US" dirty="0"/>
          </a:p>
          <a:p>
            <a:r>
              <a:rPr lang="en-US" dirty="0"/>
              <a:t>Select the type of compute node you want to use (we will talk about the different partitions that are available to you later)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99149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CE777-ABEB-6023-40DD-660DFBDCFE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0327" y="0"/>
            <a:ext cx="9144000" cy="557441"/>
          </a:xfrm>
        </p:spPr>
        <p:txBody>
          <a:bodyPr>
            <a:normAutofit fontScale="90000"/>
          </a:bodyPr>
          <a:lstStyle/>
          <a:p>
            <a:r>
              <a:rPr lang="en-US" sz="3600" dirty="0" err="1"/>
              <a:t>UoN</a:t>
            </a:r>
            <a:r>
              <a:rPr lang="en-US" sz="3600" dirty="0"/>
              <a:t> HPC – Ada – partitions: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F9438A9-6B12-100F-4936-F58EF37469C0}"/>
              </a:ext>
            </a:extLst>
          </p:cNvPr>
          <p:cNvGraphicFramePr>
            <a:graphicFrameLocks noGrp="1"/>
          </p:cNvGraphicFramePr>
          <p:nvPr/>
        </p:nvGraphicFramePr>
        <p:xfrm>
          <a:off x="148726" y="678626"/>
          <a:ext cx="11887201" cy="5704767"/>
        </p:xfrm>
        <a:graphic>
          <a:graphicData uri="http://schemas.openxmlformats.org/drawingml/2006/table">
            <a:tbl>
              <a:tblPr/>
              <a:tblGrid>
                <a:gridCol w="1605199">
                  <a:extLst>
                    <a:ext uri="{9D8B030D-6E8A-4147-A177-3AD203B41FA5}">
                      <a16:colId xmlns:a16="http://schemas.microsoft.com/office/drawing/2014/main" val="3800633113"/>
                    </a:ext>
                  </a:extLst>
                </a:gridCol>
                <a:gridCol w="10282002">
                  <a:extLst>
                    <a:ext uri="{9D8B030D-6E8A-4147-A177-3AD203B41FA5}">
                      <a16:colId xmlns:a16="http://schemas.microsoft.com/office/drawing/2014/main" val="1770920767"/>
                    </a:ext>
                  </a:extLst>
                </a:gridCol>
              </a:tblGrid>
              <a:tr h="264146">
                <a:tc>
                  <a:txBody>
                    <a:bodyPr/>
                    <a:lstStyle/>
                    <a:p>
                      <a:pPr marL="0" algn="ctr" fontAlgn="t"/>
                      <a:r>
                        <a:rPr lang="en-GB" sz="1200" b="0" dirty="0">
                          <a:solidFill>
                            <a:srgbClr val="242424"/>
                          </a:solidFill>
                          <a:effectLst/>
                        </a:rPr>
                        <a:t>Partition name</a:t>
                      </a:r>
                    </a:p>
                  </a:txBody>
                  <a:tcPr marL="17391" marR="17391" marT="17391" marB="17391">
                    <a:lnL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fontAlgn="t"/>
                      <a:r>
                        <a:rPr lang="en-GB" sz="1200" b="0" dirty="0">
                          <a:solidFill>
                            <a:srgbClr val="242424"/>
                          </a:solidFill>
                          <a:effectLst/>
                        </a:rPr>
                        <a:t>Type of node</a:t>
                      </a:r>
                    </a:p>
                  </a:txBody>
                  <a:tcPr marL="17391" marR="17391" marT="17391" marB="17391">
                    <a:lnL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7784070"/>
                  </a:ext>
                </a:extLst>
              </a:tr>
              <a:tr h="557921">
                <a:tc>
                  <a:txBody>
                    <a:bodyPr/>
                    <a:lstStyle/>
                    <a:p>
                      <a:pPr marL="0" fontAlgn="t"/>
                      <a:r>
                        <a:rPr lang="en-GB" sz="1200" b="0">
                          <a:solidFill>
                            <a:srgbClr val="242424"/>
                          </a:solidFill>
                          <a:effectLst/>
                        </a:rPr>
                        <a:t>defq</a:t>
                      </a:r>
                    </a:p>
                  </a:txBody>
                  <a:tcPr marL="17391" marR="17391" marT="17391" marB="17391">
                    <a:lnL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fontAlgn="t"/>
                      <a:r>
                        <a:rPr lang="en-GB" sz="1200" b="0" dirty="0">
                          <a:solidFill>
                            <a:srgbClr val="242424"/>
                          </a:solidFill>
                          <a:effectLst/>
                        </a:rPr>
                        <a:t>Standard compute nodes with 96 cores and 384 GB (361 GB usable) memory.</a:t>
                      </a:r>
                    </a:p>
                    <a:p>
                      <a:pPr marL="0" fontAlgn="t"/>
                      <a:r>
                        <a:rPr lang="en-GB" sz="1200" b="0" dirty="0">
                          <a:solidFill>
                            <a:srgbClr val="242424"/>
                          </a:solidFill>
                          <a:effectLst/>
                        </a:rPr>
                        <a:t>There are 63 nodes in this partition.</a:t>
                      </a:r>
                    </a:p>
                    <a:p>
                      <a:pPr marL="0" fontAlgn="t"/>
                      <a:r>
                        <a:rPr lang="en-GB" sz="1200" b="0" dirty="0">
                          <a:solidFill>
                            <a:srgbClr val="242424"/>
                          </a:solidFill>
                          <a:effectLst/>
                        </a:rPr>
                        <a:t>The maximum job </a:t>
                      </a:r>
                      <a:r>
                        <a:rPr lang="en-GB" sz="1200" b="0" dirty="0" err="1">
                          <a:solidFill>
                            <a:srgbClr val="242424"/>
                          </a:solidFill>
                          <a:effectLst/>
                        </a:rPr>
                        <a:t>walltime</a:t>
                      </a:r>
                      <a:r>
                        <a:rPr lang="en-GB" sz="1200" b="0" dirty="0">
                          <a:solidFill>
                            <a:srgbClr val="242424"/>
                          </a:solidFill>
                          <a:effectLst/>
                        </a:rPr>
                        <a:t> allowed is 7 days (168 hours).</a:t>
                      </a:r>
                    </a:p>
                  </a:txBody>
                  <a:tcPr marL="17391" marR="17391" marT="17391" marB="17391">
                    <a:lnL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0202569"/>
                  </a:ext>
                </a:extLst>
              </a:tr>
              <a:tr h="557921">
                <a:tc>
                  <a:txBody>
                    <a:bodyPr/>
                    <a:lstStyle/>
                    <a:p>
                      <a:pPr marL="0" fontAlgn="t"/>
                      <a:r>
                        <a:rPr lang="en-GB" sz="1200" b="0">
                          <a:solidFill>
                            <a:srgbClr val="242424"/>
                          </a:solidFill>
                          <a:effectLst/>
                        </a:rPr>
                        <a:t>shortq</a:t>
                      </a:r>
                    </a:p>
                  </a:txBody>
                  <a:tcPr marL="17391" marR="17391" marT="17391" marB="17391">
                    <a:lnL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fontAlgn="t"/>
                      <a:r>
                        <a:rPr lang="en-GB" sz="1200" b="0" dirty="0">
                          <a:solidFill>
                            <a:srgbClr val="242424"/>
                          </a:solidFill>
                          <a:effectLst/>
                        </a:rPr>
                        <a:t>Standard compute nodes with 96 cores and 384 GB (361 GB usable) memory.</a:t>
                      </a:r>
                    </a:p>
                    <a:p>
                      <a:pPr marL="0" fontAlgn="t"/>
                      <a:r>
                        <a:rPr lang="en-GB" sz="1200" b="0" dirty="0">
                          <a:solidFill>
                            <a:srgbClr val="242424"/>
                          </a:solidFill>
                          <a:effectLst/>
                        </a:rPr>
                        <a:t>There are 6 nodes in this partition.</a:t>
                      </a:r>
                    </a:p>
                    <a:p>
                      <a:pPr marL="0" fontAlgn="t"/>
                      <a:r>
                        <a:rPr lang="en-GB" sz="1200" b="0" dirty="0">
                          <a:solidFill>
                            <a:srgbClr val="242424"/>
                          </a:solidFill>
                          <a:effectLst/>
                        </a:rPr>
                        <a:t>The maximum job </a:t>
                      </a:r>
                      <a:r>
                        <a:rPr lang="en-GB" sz="1200" b="0" dirty="0" err="1">
                          <a:solidFill>
                            <a:srgbClr val="242424"/>
                          </a:solidFill>
                          <a:effectLst/>
                        </a:rPr>
                        <a:t>walltime</a:t>
                      </a:r>
                      <a:r>
                        <a:rPr lang="en-GB" sz="1200" b="0" dirty="0">
                          <a:solidFill>
                            <a:srgbClr val="242424"/>
                          </a:solidFill>
                          <a:effectLst/>
                        </a:rPr>
                        <a:t> allowed is 12 hours.</a:t>
                      </a:r>
                    </a:p>
                  </a:txBody>
                  <a:tcPr marL="17391" marR="17391" marT="17391" marB="17391">
                    <a:lnL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4738184"/>
                  </a:ext>
                </a:extLst>
              </a:tr>
              <a:tr h="598457">
                <a:tc>
                  <a:txBody>
                    <a:bodyPr/>
                    <a:lstStyle/>
                    <a:p>
                      <a:pPr marL="0" fontAlgn="t"/>
                      <a:r>
                        <a:rPr lang="en-GB" sz="1200" b="0">
                          <a:solidFill>
                            <a:srgbClr val="242424"/>
                          </a:solidFill>
                          <a:effectLst/>
                        </a:rPr>
                        <a:t>devq</a:t>
                      </a:r>
                    </a:p>
                  </a:txBody>
                  <a:tcPr marL="17391" marR="17391" marT="17391" marB="17391">
                    <a:lnL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fontAlgn="t"/>
                      <a:r>
                        <a:rPr lang="en-GB" sz="1200" b="0" dirty="0">
                          <a:solidFill>
                            <a:srgbClr val="242424"/>
                          </a:solidFill>
                          <a:effectLst/>
                        </a:rPr>
                        <a:t>Standard compute nodes with 96 cores and 384 GB (361 GB usable) memory.</a:t>
                      </a:r>
                    </a:p>
                    <a:p>
                      <a:pPr marL="0" fontAlgn="t"/>
                      <a:r>
                        <a:rPr lang="en-GB" sz="1200" b="0" dirty="0">
                          <a:solidFill>
                            <a:srgbClr val="242424"/>
                          </a:solidFill>
                          <a:effectLst/>
                        </a:rPr>
                        <a:t>This queue shares the nodes with '</a:t>
                      </a:r>
                      <a:r>
                        <a:rPr lang="en-GB" sz="1200" b="0" dirty="0" err="1">
                          <a:solidFill>
                            <a:srgbClr val="242424"/>
                          </a:solidFill>
                          <a:effectLst/>
                        </a:rPr>
                        <a:t>defq</a:t>
                      </a:r>
                      <a:r>
                        <a:rPr lang="en-GB" sz="1200" b="0" dirty="0">
                          <a:solidFill>
                            <a:srgbClr val="242424"/>
                          </a:solidFill>
                          <a:effectLst/>
                        </a:rPr>
                        <a:t>' partition, but limits total number of cores per user to 96, and number of jobs to 4.</a:t>
                      </a:r>
                    </a:p>
                    <a:p>
                      <a:pPr marL="0" fontAlgn="t"/>
                      <a:r>
                        <a:rPr lang="en-GB" sz="1200" b="0" dirty="0">
                          <a:solidFill>
                            <a:srgbClr val="242424"/>
                          </a:solidFill>
                          <a:effectLst/>
                        </a:rPr>
                        <a:t>The maximum job </a:t>
                      </a:r>
                      <a:r>
                        <a:rPr lang="en-GB" sz="1200" b="0" dirty="0" err="1">
                          <a:solidFill>
                            <a:srgbClr val="242424"/>
                          </a:solidFill>
                          <a:effectLst/>
                        </a:rPr>
                        <a:t>walltime</a:t>
                      </a:r>
                      <a:r>
                        <a:rPr lang="en-GB" sz="1200" b="0" dirty="0">
                          <a:solidFill>
                            <a:srgbClr val="242424"/>
                          </a:solidFill>
                          <a:effectLst/>
                        </a:rPr>
                        <a:t> allowed is 1 hour.</a:t>
                      </a:r>
                    </a:p>
                  </a:txBody>
                  <a:tcPr marL="17391" marR="17391" marT="17391" marB="17391">
                    <a:lnL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508562"/>
                  </a:ext>
                </a:extLst>
              </a:tr>
              <a:tr h="557921">
                <a:tc>
                  <a:txBody>
                    <a:bodyPr/>
                    <a:lstStyle/>
                    <a:p>
                      <a:pPr marL="0" fontAlgn="t"/>
                      <a:r>
                        <a:rPr lang="en-GB" sz="1200" b="0">
                          <a:solidFill>
                            <a:srgbClr val="242424"/>
                          </a:solidFill>
                          <a:effectLst/>
                        </a:rPr>
                        <a:t>hmemq</a:t>
                      </a:r>
                    </a:p>
                  </a:txBody>
                  <a:tcPr marL="17391" marR="17391" marT="17391" marB="17391">
                    <a:lnL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fontAlgn="t"/>
                      <a:r>
                        <a:rPr lang="en-GB" sz="1200" b="0">
                          <a:solidFill>
                            <a:srgbClr val="242424"/>
                          </a:solidFill>
                          <a:effectLst/>
                        </a:rPr>
                        <a:t>High memory compute node with 96 cores and 1536 GB (1495 GB usable) memory.</a:t>
                      </a:r>
                    </a:p>
                    <a:p>
                      <a:pPr marL="0" fontAlgn="t"/>
                      <a:r>
                        <a:rPr lang="en-GB" sz="1200" b="0">
                          <a:solidFill>
                            <a:srgbClr val="242424"/>
                          </a:solidFill>
                          <a:effectLst/>
                        </a:rPr>
                        <a:t>There are 10 nodes in this partition.</a:t>
                      </a:r>
                    </a:p>
                    <a:p>
                      <a:pPr marL="0" fontAlgn="t"/>
                      <a:r>
                        <a:rPr lang="en-GB" sz="1200" b="0">
                          <a:solidFill>
                            <a:srgbClr val="242424"/>
                          </a:solidFill>
                          <a:effectLst/>
                        </a:rPr>
                        <a:t>The maximum job walltime allowed is 7 days (168 hours).</a:t>
                      </a:r>
                    </a:p>
                  </a:txBody>
                  <a:tcPr marL="17391" marR="17391" marT="17391" marB="17391">
                    <a:lnL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65576"/>
                  </a:ext>
                </a:extLst>
              </a:tr>
              <a:tr h="731865">
                <a:tc>
                  <a:txBody>
                    <a:bodyPr/>
                    <a:lstStyle/>
                    <a:p>
                      <a:pPr marL="0" fontAlgn="t"/>
                      <a:r>
                        <a:rPr lang="en-GB" sz="1200" b="0">
                          <a:solidFill>
                            <a:srgbClr val="242424"/>
                          </a:solidFill>
                          <a:effectLst/>
                        </a:rPr>
                        <a:t>ampereq</a:t>
                      </a:r>
                    </a:p>
                  </a:txBody>
                  <a:tcPr marL="17391" marR="17391" marT="17391" marB="17391">
                    <a:lnL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fontAlgn="t"/>
                      <a:r>
                        <a:rPr lang="en-GB" sz="1200" b="0">
                          <a:solidFill>
                            <a:srgbClr val="242424"/>
                          </a:solidFill>
                          <a:effectLst/>
                        </a:rPr>
                        <a:t>GPGPU (ampere) compute node with 96 cores and 768 GB (747 GB usable) memory, and 8 Nvidia A100 GPUs</a:t>
                      </a:r>
                    </a:p>
                    <a:p>
                      <a:pPr marL="0" fontAlgn="t"/>
                      <a:r>
                        <a:rPr lang="en-GB" sz="1200" b="0">
                          <a:solidFill>
                            <a:srgbClr val="242424"/>
                          </a:solidFill>
                          <a:effectLst/>
                        </a:rPr>
                        <a:t>There are 2 nodes in this partition.</a:t>
                      </a:r>
                    </a:p>
                    <a:p>
                      <a:pPr marL="0" fontAlgn="t"/>
                      <a:r>
                        <a:rPr lang="en-GB" sz="1200" b="0">
                          <a:solidFill>
                            <a:srgbClr val="242424"/>
                          </a:solidFill>
                          <a:effectLst/>
                        </a:rPr>
                        <a:t>The maximum job walltime allowed is 7 days (168 hours).</a:t>
                      </a:r>
                    </a:p>
                    <a:p>
                      <a:pPr marL="0" fontAlgn="t"/>
                      <a:r>
                        <a:rPr lang="en-GB" sz="1200" b="0">
                          <a:solidFill>
                            <a:srgbClr val="242424"/>
                          </a:solidFill>
                          <a:effectLst/>
                        </a:rPr>
                        <a:t> </a:t>
                      </a:r>
                    </a:p>
                  </a:txBody>
                  <a:tcPr marL="17391" marR="17391" marT="17391" marB="17391">
                    <a:lnL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0747476"/>
                  </a:ext>
                </a:extLst>
              </a:tr>
              <a:tr h="905809">
                <a:tc>
                  <a:txBody>
                    <a:bodyPr/>
                    <a:lstStyle/>
                    <a:p>
                      <a:pPr marL="0" fontAlgn="t"/>
                      <a:r>
                        <a:rPr lang="en-GB" sz="1200" b="0">
                          <a:solidFill>
                            <a:srgbClr val="242424"/>
                          </a:solidFill>
                          <a:effectLst/>
                        </a:rPr>
                        <a:t>ampere-devq</a:t>
                      </a:r>
                    </a:p>
                  </a:txBody>
                  <a:tcPr marL="17391" marR="17391" marT="17391" marB="17391">
                    <a:lnL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fontAlgn="t"/>
                      <a:r>
                        <a:rPr lang="en-GB" sz="1200" b="0" dirty="0">
                          <a:solidFill>
                            <a:srgbClr val="242424"/>
                          </a:solidFill>
                          <a:effectLst/>
                        </a:rPr>
                        <a:t>GPGPU (ampere) compute node with 96 cores and 768 GB (747 GB usable) memory, and 8 Nvidia A100 GPUs</a:t>
                      </a:r>
                    </a:p>
                    <a:p>
                      <a:pPr marL="0" fontAlgn="t"/>
                      <a:r>
                        <a:rPr lang="en-GB" sz="1200" b="0" dirty="0">
                          <a:solidFill>
                            <a:srgbClr val="242424"/>
                          </a:solidFill>
                          <a:effectLst/>
                        </a:rPr>
                        <a:t>This queue shares the nodes with '</a:t>
                      </a:r>
                      <a:r>
                        <a:rPr lang="en-GB" sz="1200" b="0" dirty="0" err="1">
                          <a:solidFill>
                            <a:srgbClr val="242424"/>
                          </a:solidFill>
                          <a:effectLst/>
                        </a:rPr>
                        <a:t>ampereq</a:t>
                      </a:r>
                      <a:r>
                        <a:rPr lang="en-GB" sz="1200" b="0" dirty="0">
                          <a:solidFill>
                            <a:srgbClr val="242424"/>
                          </a:solidFill>
                          <a:effectLst/>
                        </a:rPr>
                        <a:t>' partition, but limits total number of cores per user to 12, number of GPUs per user to 1, and number of jobs to 4.</a:t>
                      </a:r>
                    </a:p>
                    <a:p>
                      <a:pPr marL="0" fontAlgn="t"/>
                      <a:r>
                        <a:rPr lang="en-GB" sz="1200" b="0" dirty="0">
                          <a:solidFill>
                            <a:srgbClr val="242424"/>
                          </a:solidFill>
                          <a:effectLst/>
                        </a:rPr>
                        <a:t>The maximum job </a:t>
                      </a:r>
                      <a:r>
                        <a:rPr lang="en-GB" sz="1200" b="0" dirty="0" err="1">
                          <a:solidFill>
                            <a:srgbClr val="242424"/>
                          </a:solidFill>
                          <a:effectLst/>
                        </a:rPr>
                        <a:t>walltime</a:t>
                      </a:r>
                      <a:r>
                        <a:rPr lang="en-GB" sz="1200" b="0" dirty="0">
                          <a:solidFill>
                            <a:srgbClr val="242424"/>
                          </a:solidFill>
                          <a:effectLst/>
                        </a:rPr>
                        <a:t> allowed is 1 hour</a:t>
                      </a:r>
                    </a:p>
                    <a:p>
                      <a:pPr marL="0" fontAlgn="t"/>
                      <a:r>
                        <a:rPr lang="en-GB" sz="1200" b="0" dirty="0">
                          <a:solidFill>
                            <a:srgbClr val="242424"/>
                          </a:solidFill>
                          <a:effectLst/>
                        </a:rPr>
                        <a:t> </a:t>
                      </a:r>
                    </a:p>
                  </a:txBody>
                  <a:tcPr marL="17391" marR="17391" marT="17391" marB="17391">
                    <a:lnL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226890"/>
                  </a:ext>
                </a:extLst>
              </a:tr>
              <a:tr h="598457">
                <a:tc>
                  <a:txBody>
                    <a:bodyPr/>
                    <a:lstStyle/>
                    <a:p>
                      <a:pPr marL="0" fontAlgn="t"/>
                      <a:r>
                        <a:rPr lang="en-GB" sz="1200" b="0" dirty="0">
                          <a:solidFill>
                            <a:srgbClr val="242424"/>
                          </a:solidFill>
                          <a:effectLst/>
                        </a:rPr>
                        <a:t>ampere-</a:t>
                      </a:r>
                      <a:r>
                        <a:rPr lang="en-GB" sz="1200" b="0" dirty="0" err="1">
                          <a:solidFill>
                            <a:srgbClr val="242424"/>
                          </a:solidFill>
                          <a:effectLst/>
                        </a:rPr>
                        <a:t>mq</a:t>
                      </a:r>
                      <a:endParaRPr lang="en-GB" sz="1200" b="0" dirty="0">
                        <a:solidFill>
                          <a:srgbClr val="242424"/>
                        </a:solidFill>
                        <a:effectLst/>
                      </a:endParaRPr>
                    </a:p>
                  </a:txBody>
                  <a:tcPr marL="17391" marR="17391" marT="17391" marB="17391">
                    <a:lnL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fontAlgn="t"/>
                      <a:r>
                        <a:rPr lang="en-GB" sz="1200" b="0">
                          <a:solidFill>
                            <a:srgbClr val="242424"/>
                          </a:solidFill>
                          <a:effectLst/>
                        </a:rPr>
                        <a:t>GPGPU (ampere) compute node with 96 cores and 768 GB (747 GB usable) memory, and 8 Nvidia A100 GPUs, each A100 split into 7x 'MIG' instances</a:t>
                      </a:r>
                    </a:p>
                    <a:p>
                      <a:pPr marL="0" fontAlgn="t"/>
                      <a:r>
                        <a:rPr lang="en-GB" sz="1200" b="0">
                          <a:solidFill>
                            <a:srgbClr val="242424"/>
                          </a:solidFill>
                          <a:effectLst/>
                        </a:rPr>
                        <a:t>There are 2 nodes in this partition.</a:t>
                      </a:r>
                    </a:p>
                    <a:p>
                      <a:pPr marL="0" fontAlgn="t"/>
                      <a:r>
                        <a:rPr lang="en-GB" sz="1200" b="0">
                          <a:solidFill>
                            <a:srgbClr val="242424"/>
                          </a:solidFill>
                          <a:effectLst/>
                        </a:rPr>
                        <a:t>The maximum job walltime allowed is 7 days (168 hours).</a:t>
                      </a:r>
                    </a:p>
                  </a:txBody>
                  <a:tcPr marL="17391" marR="17391" marT="17391" marB="17391">
                    <a:lnL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153630"/>
                  </a:ext>
                </a:extLst>
              </a:tr>
              <a:tr h="821330">
                <a:tc>
                  <a:txBody>
                    <a:bodyPr/>
                    <a:lstStyle/>
                    <a:p>
                      <a:pPr marL="0" fontAlgn="t"/>
                      <a:r>
                        <a:rPr lang="en-GB" sz="1200" b="0">
                          <a:solidFill>
                            <a:srgbClr val="242424"/>
                          </a:solidFill>
                          <a:effectLst/>
                        </a:rPr>
                        <a:t>ampere-m-devq</a:t>
                      </a:r>
                    </a:p>
                  </a:txBody>
                  <a:tcPr marL="17391" marR="17391" marT="17391" marB="17391">
                    <a:lnL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fontAlgn="t"/>
                      <a:r>
                        <a:rPr lang="en-GB" sz="1200" b="0" dirty="0">
                          <a:solidFill>
                            <a:srgbClr val="242424"/>
                          </a:solidFill>
                          <a:effectLst/>
                        </a:rPr>
                        <a:t>GPGPU (ampere) compute node with 96 cores and 768 GB (747 GB usable) memory, and 8 Nvidia A100 GPUs, each A100 split into 7x 'MIG' instances</a:t>
                      </a:r>
                    </a:p>
                    <a:p>
                      <a:pPr marL="0" fontAlgn="t"/>
                      <a:r>
                        <a:rPr lang="en-GB" sz="1200" b="0" dirty="0">
                          <a:solidFill>
                            <a:srgbClr val="242424"/>
                          </a:solidFill>
                          <a:effectLst/>
                        </a:rPr>
                        <a:t>This queue shares the nodes with 'ampere-</a:t>
                      </a:r>
                      <a:r>
                        <a:rPr lang="en-GB" sz="1200" b="0" dirty="0" err="1">
                          <a:solidFill>
                            <a:srgbClr val="242424"/>
                          </a:solidFill>
                          <a:effectLst/>
                        </a:rPr>
                        <a:t>mq</a:t>
                      </a:r>
                      <a:r>
                        <a:rPr lang="en-GB" sz="1200" b="0" dirty="0">
                          <a:solidFill>
                            <a:srgbClr val="242424"/>
                          </a:solidFill>
                          <a:effectLst/>
                        </a:rPr>
                        <a:t>' partition, but limits total number of cores per user to 12, number of GPUs per user to 1, and number of jobs to 4.</a:t>
                      </a:r>
                    </a:p>
                    <a:p>
                      <a:pPr marL="0" fontAlgn="t"/>
                      <a:r>
                        <a:rPr lang="en-GB" sz="1200" b="0" dirty="0">
                          <a:solidFill>
                            <a:srgbClr val="242424"/>
                          </a:solidFill>
                          <a:effectLst/>
                        </a:rPr>
                        <a:t>The maximum job </a:t>
                      </a:r>
                      <a:r>
                        <a:rPr lang="en-GB" sz="1200" b="0" dirty="0" err="1">
                          <a:solidFill>
                            <a:srgbClr val="242424"/>
                          </a:solidFill>
                          <a:effectLst/>
                        </a:rPr>
                        <a:t>walltime</a:t>
                      </a:r>
                      <a:r>
                        <a:rPr lang="en-GB" sz="1200" b="0" dirty="0">
                          <a:solidFill>
                            <a:srgbClr val="242424"/>
                          </a:solidFill>
                          <a:effectLst/>
                        </a:rPr>
                        <a:t> allowed is 1 hour.</a:t>
                      </a:r>
                    </a:p>
                  </a:txBody>
                  <a:tcPr marL="17391" marR="17391" marT="17391" marB="17391">
                    <a:lnL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2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948697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9092E1B-3595-A86F-1581-CE1FEB4E83AC}"/>
              </a:ext>
            </a:extLst>
          </p:cNvPr>
          <p:cNvSpPr txBox="1"/>
          <p:nvPr/>
        </p:nvSpPr>
        <p:spPr>
          <a:xfrm>
            <a:off x="9889666" y="988195"/>
            <a:ext cx="1549322" cy="40011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accent5"/>
                </a:solidFill>
              </a:rPr>
              <a:t>normal jobs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D99A1D-C2FC-2BB2-904B-28D0161D7AE0}"/>
              </a:ext>
            </a:extLst>
          </p:cNvPr>
          <p:cNvSpPr txBox="1"/>
          <p:nvPr/>
        </p:nvSpPr>
        <p:spPr>
          <a:xfrm>
            <a:off x="10025666" y="1697874"/>
            <a:ext cx="1549322" cy="40011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accent5"/>
                </a:solidFill>
              </a:rPr>
              <a:t>quick jobs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21EC0F-6B63-AD0D-9E42-1D18AA7E26A9}"/>
              </a:ext>
            </a:extLst>
          </p:cNvPr>
          <p:cNvSpPr txBox="1"/>
          <p:nvPr/>
        </p:nvSpPr>
        <p:spPr>
          <a:xfrm>
            <a:off x="10283296" y="2207498"/>
            <a:ext cx="1155692" cy="40011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accent5"/>
                </a:solidFill>
              </a:rPr>
              <a:t>testing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809697-6D74-4D7A-125D-02BDA8CDAE30}"/>
              </a:ext>
            </a:extLst>
          </p:cNvPr>
          <p:cNvSpPr txBox="1"/>
          <p:nvPr/>
        </p:nvSpPr>
        <p:spPr>
          <a:xfrm>
            <a:off x="9913959" y="2792043"/>
            <a:ext cx="1661030" cy="40011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accent5"/>
                </a:solidFill>
              </a:rPr>
              <a:t>high memory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5557FD-E134-73DB-4BD7-647E6EC646A3}"/>
              </a:ext>
            </a:extLst>
          </p:cNvPr>
          <p:cNvSpPr txBox="1"/>
          <p:nvPr/>
        </p:nvSpPr>
        <p:spPr>
          <a:xfrm>
            <a:off x="8289948" y="3544864"/>
            <a:ext cx="3629891" cy="40011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accent5"/>
                </a:solidFill>
              </a:rPr>
              <a:t>GPU (graphics processing unit)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F28E12E-F401-ABF5-CD48-34E816F357CB}"/>
              </a:ext>
            </a:extLst>
          </p:cNvPr>
          <p:cNvSpPr txBox="1"/>
          <p:nvPr/>
        </p:nvSpPr>
        <p:spPr>
          <a:xfrm>
            <a:off x="10171588" y="4520970"/>
            <a:ext cx="1772737" cy="40011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accent5"/>
                </a:solidFill>
              </a:rPr>
              <a:t>GPU - testing</a:t>
            </a:r>
          </a:p>
        </p:txBody>
      </p:sp>
    </p:spTree>
    <p:extLst>
      <p:ext uri="{BB962C8B-B14F-4D97-AF65-F5344CB8AC3E}">
        <p14:creationId xmlns:p14="http://schemas.microsoft.com/office/powerpoint/2010/main" val="17086802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1E664-FFFD-2DED-D8D6-52BDD880E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C6817D7-3CAC-D3E1-3986-61D677F9095B}"/>
              </a:ext>
            </a:extLst>
          </p:cNvPr>
          <p:cNvSpPr txBox="1">
            <a:spLocks/>
          </p:cNvSpPr>
          <p:nvPr/>
        </p:nvSpPr>
        <p:spPr>
          <a:xfrm>
            <a:off x="1520327" y="205535"/>
            <a:ext cx="9144000" cy="5574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 dirty="0"/>
              <a:t>Accessing software on Ada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142B46-023B-87E3-A110-7A3AE5E3FDCD}"/>
              </a:ext>
            </a:extLst>
          </p:cNvPr>
          <p:cNvSpPr txBox="1"/>
          <p:nvPr/>
        </p:nvSpPr>
        <p:spPr>
          <a:xfrm>
            <a:off x="1894238" y="1049413"/>
            <a:ext cx="9577326" cy="2118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b="0" i="0" dirty="0">
                <a:solidFill>
                  <a:srgbClr val="323130"/>
                </a:solidFill>
                <a:effectLst/>
                <a:latin typeface="Segoe UI" panose="020B0502040204020203" pitchFamily="34" charset="0"/>
              </a:rPr>
              <a:t>Pre-installed software available to you as modules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b="0" i="0" dirty="0">
                <a:solidFill>
                  <a:srgbClr val="323130"/>
                </a:solidFill>
                <a:effectLst/>
                <a:latin typeface="Segoe UI" panose="020B0502040204020203" pitchFamily="34" charset="0"/>
              </a:rPr>
              <a:t>Software you install yourself with </a:t>
            </a:r>
            <a:r>
              <a:rPr lang="en-GB" sz="2400" b="0" i="0" dirty="0" err="1">
                <a:solidFill>
                  <a:srgbClr val="323130"/>
                </a:solidFill>
                <a:effectLst/>
                <a:latin typeface="Segoe UI" panose="020B0502040204020203" pitchFamily="34" charset="0"/>
              </a:rPr>
              <a:t>Conda</a:t>
            </a:r>
            <a:endParaRPr lang="en-GB" sz="2400" b="0" i="0" dirty="0">
              <a:solidFill>
                <a:srgbClr val="323130"/>
              </a:solidFill>
              <a:effectLst/>
              <a:latin typeface="Segoe UI" panose="020B0502040204020203" pitchFamily="34" charset="0"/>
            </a:endParaRP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323130"/>
                </a:solidFill>
                <a:latin typeface="Segoe UI" panose="020B0502040204020203" pitchFamily="34" charset="0"/>
              </a:rPr>
              <a:t>Software containers (singularity, docker) </a:t>
            </a:r>
            <a:r>
              <a:rPr lang="en-GB" sz="1600" dirty="0">
                <a:solidFill>
                  <a:srgbClr val="C00000"/>
                </a:solidFill>
                <a:latin typeface="Segoe UI" panose="020B0502040204020203" pitchFamily="34" charset="0"/>
              </a:rPr>
              <a:t>– we will not cover software containers in this module but you should be aware that they exist and you can use them on Ada</a:t>
            </a:r>
            <a:endParaRPr lang="en-GB" sz="2400" b="0" i="0" dirty="0">
              <a:solidFill>
                <a:srgbClr val="C00000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7170" name="Picture 2" descr="The Future of Software Development | Blog | StarkCloud">
            <a:extLst>
              <a:ext uri="{FF2B5EF4-FFF2-40B4-BE49-F238E27FC236}">
                <a16:creationId xmlns:a16="http://schemas.microsoft.com/office/drawing/2014/main" id="{F7D935EE-AAB5-2DCF-A63F-528DD127FD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5075" y="3395287"/>
            <a:ext cx="5790539" cy="3257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18465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CE777-ABEB-6023-40DD-660DFBDCFE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74983" y="-26894"/>
            <a:ext cx="7025089" cy="727114"/>
          </a:xfrm>
        </p:spPr>
        <p:txBody>
          <a:bodyPr>
            <a:noAutofit/>
          </a:bodyPr>
          <a:lstStyle/>
          <a:p>
            <a:r>
              <a:rPr lang="en-US" sz="3600" dirty="0" err="1"/>
              <a:t>UoN</a:t>
            </a:r>
            <a:r>
              <a:rPr lang="en-US" sz="3600" dirty="0"/>
              <a:t> HPC – Ada – software modules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D9E5AF-FBE8-BDB2-9474-7839E3682B88}"/>
              </a:ext>
            </a:extLst>
          </p:cNvPr>
          <p:cNvSpPr txBox="1"/>
          <p:nvPr/>
        </p:nvSpPr>
        <p:spPr>
          <a:xfrm>
            <a:off x="444723" y="799983"/>
            <a:ext cx="110659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solidFill>
                  <a:srgbClr val="323130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TO SEE ALL AVAILABLE SOFTWARE	 </a:t>
            </a:r>
            <a:r>
              <a:rPr lang="en-GB" sz="2000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module avail     </a:t>
            </a:r>
            <a:r>
              <a:rPr lang="en-GB" sz="2000" dirty="0">
                <a:solidFill>
                  <a:srgbClr val="323130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e.g.:</a:t>
            </a:r>
            <a:endParaRPr lang="en-GB" sz="2000" b="0" i="0" dirty="0">
              <a:solidFill>
                <a:srgbClr val="323130"/>
              </a:solidFill>
              <a:effectLst/>
              <a:highlight>
                <a:srgbClr val="FFFFFF"/>
              </a:highlight>
              <a:latin typeface="Segoe UI" panose="020B0502040204020203" pitchFamily="34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5A4883D-3152-CB8D-63C6-80AFC9D2AD3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" r="8756" b="27431"/>
          <a:stretch/>
        </p:blipFill>
        <p:spPr>
          <a:xfrm>
            <a:off x="337147" y="1299856"/>
            <a:ext cx="11482818" cy="549124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AA182AF-E467-0540-5375-41B7C5476322}"/>
              </a:ext>
            </a:extLst>
          </p:cNvPr>
          <p:cNvSpPr txBox="1"/>
          <p:nvPr/>
        </p:nvSpPr>
        <p:spPr>
          <a:xfrm>
            <a:off x="9992135" y="6457890"/>
            <a:ext cx="21998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solidFill>
                  <a:srgbClr val="323130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And many more…</a:t>
            </a:r>
            <a:endParaRPr lang="en-GB" sz="2000" b="0" i="0" dirty="0">
              <a:solidFill>
                <a:srgbClr val="323130"/>
              </a:solidFill>
              <a:effectLst/>
              <a:highlight>
                <a:srgbClr val="FFFFFF"/>
              </a:highlight>
              <a:latin typeface="Segoe UI" panose="020B0502040204020203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798509E-464D-C50C-90F3-5C9C5DEF8C8B}"/>
              </a:ext>
            </a:extLst>
          </p:cNvPr>
          <p:cNvGrpSpPr/>
          <p:nvPr/>
        </p:nvGrpSpPr>
        <p:grpSpPr>
          <a:xfrm>
            <a:off x="3729858" y="1412322"/>
            <a:ext cx="1067043" cy="772744"/>
            <a:chOff x="3729858" y="1412322"/>
            <a:chExt cx="1067043" cy="77274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C9373B14-D583-AB22-7BFD-78EA835E3E50}"/>
                </a:ext>
              </a:extLst>
            </p:cNvPr>
            <p:cNvSpPr/>
            <p:nvPr/>
          </p:nvSpPr>
          <p:spPr>
            <a:xfrm>
              <a:off x="3729858" y="1733375"/>
              <a:ext cx="462708" cy="451691"/>
            </a:xfrm>
            <a:prstGeom prst="ellipse">
              <a:avLst/>
            </a:prstGeom>
            <a:noFill/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2A16406-7642-A5E0-7F2E-4557D220BFD2}"/>
                </a:ext>
              </a:extLst>
            </p:cNvPr>
            <p:cNvSpPr txBox="1"/>
            <p:nvPr/>
          </p:nvSpPr>
          <p:spPr>
            <a:xfrm>
              <a:off x="3960267" y="1412322"/>
              <a:ext cx="8366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sticky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783DB4E-D335-576D-DAE0-AB0061111C67}"/>
              </a:ext>
            </a:extLst>
          </p:cNvPr>
          <p:cNvGrpSpPr/>
          <p:nvPr/>
        </p:nvGrpSpPr>
        <p:grpSpPr>
          <a:xfrm>
            <a:off x="5787527" y="1363303"/>
            <a:ext cx="1258731" cy="784732"/>
            <a:chOff x="5787527" y="1363303"/>
            <a:chExt cx="1258731" cy="784732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4624FF22-5A8F-C49F-245E-6CC6D30DEDEF}"/>
                </a:ext>
              </a:extLst>
            </p:cNvPr>
            <p:cNvSpPr/>
            <p:nvPr/>
          </p:nvSpPr>
          <p:spPr>
            <a:xfrm>
              <a:off x="5787527" y="1696344"/>
              <a:ext cx="462708" cy="451691"/>
            </a:xfrm>
            <a:prstGeom prst="ellipse">
              <a:avLst/>
            </a:prstGeom>
            <a:noFill/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E762F84-1AD2-8B9C-24B9-4D5782E5A40D}"/>
                </a:ext>
              </a:extLst>
            </p:cNvPr>
            <p:cNvSpPr txBox="1"/>
            <p:nvPr/>
          </p:nvSpPr>
          <p:spPr>
            <a:xfrm>
              <a:off x="6095999" y="1363303"/>
              <a:ext cx="9502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loaded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7F36394-BE5D-9536-66FD-A5ABD87780BF}"/>
              </a:ext>
            </a:extLst>
          </p:cNvPr>
          <p:cNvGrpSpPr/>
          <p:nvPr/>
        </p:nvGrpSpPr>
        <p:grpSpPr>
          <a:xfrm>
            <a:off x="10917015" y="2282725"/>
            <a:ext cx="950259" cy="901905"/>
            <a:chOff x="10917015" y="2282725"/>
            <a:chExt cx="950259" cy="901905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DE153A2-50E1-3BB8-6746-D660DD81003C}"/>
                </a:ext>
              </a:extLst>
            </p:cNvPr>
            <p:cNvSpPr/>
            <p:nvPr/>
          </p:nvSpPr>
          <p:spPr>
            <a:xfrm>
              <a:off x="11392145" y="2732939"/>
              <a:ext cx="462708" cy="451691"/>
            </a:xfrm>
            <a:prstGeom prst="ellipse">
              <a:avLst/>
            </a:prstGeom>
            <a:noFill/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12E3F1A-0441-D169-C7EF-DBA9A7D6AF13}"/>
                </a:ext>
              </a:extLst>
            </p:cNvPr>
            <p:cNvSpPr txBox="1"/>
            <p:nvPr/>
          </p:nvSpPr>
          <p:spPr>
            <a:xfrm>
              <a:off x="10917015" y="2282725"/>
              <a:ext cx="9502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default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752666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CE777-ABEB-6023-40DD-660DFBDCFE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74983" y="-26894"/>
            <a:ext cx="7025089" cy="727114"/>
          </a:xfrm>
        </p:spPr>
        <p:txBody>
          <a:bodyPr>
            <a:noAutofit/>
          </a:bodyPr>
          <a:lstStyle/>
          <a:p>
            <a:r>
              <a:rPr lang="en-US" sz="3600" dirty="0" err="1"/>
              <a:t>UoN</a:t>
            </a:r>
            <a:r>
              <a:rPr lang="en-US" sz="3600" dirty="0"/>
              <a:t> HPC – Ada – software modules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D9E5AF-FBE8-BDB2-9474-7839E3682B88}"/>
              </a:ext>
            </a:extLst>
          </p:cNvPr>
          <p:cNvSpPr txBox="1"/>
          <p:nvPr/>
        </p:nvSpPr>
        <p:spPr>
          <a:xfrm>
            <a:off x="444723" y="799983"/>
            <a:ext cx="110659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solidFill>
                  <a:srgbClr val="323130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TO SEARCH FOR SOFTWARE	 </a:t>
            </a:r>
            <a:r>
              <a:rPr lang="en-GB" sz="2000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m</a:t>
            </a:r>
            <a:r>
              <a:rPr lang="en-GB" sz="2000" b="0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Monaco" pitchFamily="2" charset="77"/>
              </a:rPr>
              <a:t>odule avail </a:t>
            </a:r>
            <a:r>
              <a:rPr lang="en-GB" sz="2000" b="0" i="0" dirty="0" err="1">
                <a:solidFill>
                  <a:schemeClr val="accent3"/>
                </a:solidFill>
                <a:effectLst/>
                <a:highlight>
                  <a:srgbClr val="FFFFFF"/>
                </a:highlight>
                <a:latin typeface="Monaco" pitchFamily="2" charset="77"/>
              </a:rPr>
              <a:t>software_name</a:t>
            </a:r>
            <a:r>
              <a:rPr lang="en-GB" sz="2000" dirty="0">
                <a:solidFill>
                  <a:schemeClr val="accent3"/>
                </a:solidFill>
                <a:highlight>
                  <a:srgbClr val="FFFFFF"/>
                </a:highlight>
                <a:latin typeface="Monaco" pitchFamily="2" charset="77"/>
              </a:rPr>
              <a:t>        </a:t>
            </a:r>
            <a:r>
              <a:rPr lang="en-GB" sz="2000" dirty="0">
                <a:solidFill>
                  <a:srgbClr val="323130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e.g.:</a:t>
            </a:r>
            <a:endParaRPr lang="en-GB" sz="2000" b="0" i="0" dirty="0">
              <a:solidFill>
                <a:srgbClr val="323130"/>
              </a:solidFill>
              <a:effectLst/>
              <a:highlight>
                <a:srgbClr val="FFFFFF"/>
              </a:highlight>
              <a:latin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EBE212-ABD6-C796-DD81-BD18F5D5F3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512" y="1303305"/>
            <a:ext cx="11787259" cy="309388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B48F47E-1F11-2073-2DED-0327940C74DB}"/>
              </a:ext>
            </a:extLst>
          </p:cNvPr>
          <p:cNvSpPr txBox="1"/>
          <p:nvPr/>
        </p:nvSpPr>
        <p:spPr>
          <a:xfrm>
            <a:off x="444723" y="4517756"/>
            <a:ext cx="1150971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solidFill>
                  <a:srgbClr val="323130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TO LOAD SOFTWARE:           </a:t>
            </a:r>
            <a:r>
              <a:rPr lang="en-GB" sz="2000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module load </a:t>
            </a:r>
            <a:r>
              <a:rPr lang="en-GB" sz="2000" dirty="0" err="1">
                <a:solidFill>
                  <a:schemeClr val="accent3"/>
                </a:solidFill>
                <a:highlight>
                  <a:srgbClr val="FFFFFF"/>
                </a:highlight>
                <a:latin typeface="Monaco" pitchFamily="2" charset="77"/>
              </a:rPr>
              <a:t>module_name</a:t>
            </a:r>
            <a:r>
              <a:rPr lang="en-GB" sz="2000" dirty="0">
                <a:solidFill>
                  <a:srgbClr val="323130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	e.g. :</a:t>
            </a:r>
            <a:endParaRPr lang="en-GB" sz="2000" b="0" i="0" dirty="0">
              <a:solidFill>
                <a:srgbClr val="323130"/>
              </a:solidFill>
              <a:effectLst/>
              <a:highlight>
                <a:srgbClr val="FFFFFF"/>
              </a:highlight>
              <a:latin typeface="Segoe UI" panose="020B0502040204020203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BD3435A-840A-4F81-2429-FDBA310DE6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364" y="4986851"/>
            <a:ext cx="11873753" cy="46111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2863497-675A-B2FC-C20E-84DCB090DDC9}"/>
              </a:ext>
            </a:extLst>
          </p:cNvPr>
          <p:cNvSpPr txBox="1"/>
          <p:nvPr/>
        </p:nvSpPr>
        <p:spPr>
          <a:xfrm>
            <a:off x="444723" y="5690014"/>
            <a:ext cx="1150971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solidFill>
                  <a:srgbClr val="323130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TO UNLOAD SOFTWARE:           </a:t>
            </a:r>
            <a:r>
              <a:rPr lang="en-GB" sz="2000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module unload </a:t>
            </a:r>
            <a:r>
              <a:rPr lang="en-GB" sz="2000" dirty="0" err="1">
                <a:solidFill>
                  <a:schemeClr val="accent3"/>
                </a:solidFill>
                <a:highlight>
                  <a:srgbClr val="FFFFFF"/>
                </a:highlight>
                <a:latin typeface="Monaco" pitchFamily="2" charset="77"/>
              </a:rPr>
              <a:t>module_name</a:t>
            </a:r>
            <a:r>
              <a:rPr lang="en-GB" sz="2000" dirty="0">
                <a:solidFill>
                  <a:srgbClr val="323130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	e.g. :</a:t>
            </a:r>
            <a:endParaRPr lang="en-GB" sz="2000" b="0" i="0" dirty="0">
              <a:solidFill>
                <a:srgbClr val="323130"/>
              </a:solidFill>
              <a:effectLst/>
              <a:highlight>
                <a:srgbClr val="FFFFFF"/>
              </a:highlight>
              <a:latin typeface="Segoe UI" panose="020B0502040204020203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8CBA344-2B88-A07A-123D-1701681306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363" y="6162588"/>
            <a:ext cx="11873753" cy="388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36486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4F4CF-2CE3-D0C9-42D2-B4295FF52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CC955-7AB2-369E-7A84-1D3D9AF39E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110019"/>
            <a:ext cx="12191999" cy="727114"/>
          </a:xfrm>
        </p:spPr>
        <p:txBody>
          <a:bodyPr>
            <a:noAutofit/>
          </a:bodyPr>
          <a:lstStyle/>
          <a:p>
            <a:r>
              <a:rPr lang="en-US" sz="3600" dirty="0"/>
              <a:t>Using software modules in a job submission script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0EC92D-0472-CCE8-F35B-4FD2D31A3326}"/>
              </a:ext>
            </a:extLst>
          </p:cNvPr>
          <p:cNvSpPr txBox="1"/>
          <p:nvPr/>
        </p:nvSpPr>
        <p:spPr>
          <a:xfrm>
            <a:off x="1136099" y="593345"/>
            <a:ext cx="10203348" cy="6186309"/>
          </a:xfrm>
          <a:prstGeom prst="rect">
            <a:avLst/>
          </a:prstGeom>
          <a:solidFill>
            <a:schemeClr val="accent1">
              <a:alpha val="16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latin typeface="Monaco" pitchFamily="2" charset="77"/>
              </a:rPr>
              <a:t>#!/bin/bash</a:t>
            </a:r>
          </a:p>
          <a:p>
            <a:endParaRPr lang="en-US" dirty="0">
              <a:latin typeface="Monaco" pitchFamily="2" charset="77"/>
            </a:endParaRPr>
          </a:p>
          <a:p>
            <a:r>
              <a:rPr lang="en-US" dirty="0">
                <a:latin typeface="Monaco" pitchFamily="2" charset="77"/>
              </a:rPr>
              <a:t>#SBATCH --partition=</a:t>
            </a:r>
            <a:r>
              <a:rPr lang="en-US" dirty="0" err="1">
                <a:latin typeface="Monaco" pitchFamily="2" charset="77"/>
              </a:rPr>
              <a:t>defq</a:t>
            </a:r>
            <a:endParaRPr lang="en-US" dirty="0">
              <a:latin typeface="Monaco" pitchFamily="2" charset="77"/>
            </a:endParaRPr>
          </a:p>
          <a:p>
            <a:r>
              <a:rPr lang="en-US" dirty="0">
                <a:latin typeface="Monaco" pitchFamily="2" charset="77"/>
              </a:rPr>
              <a:t>#SBATCH --nodes=1</a:t>
            </a:r>
          </a:p>
          <a:p>
            <a:r>
              <a:rPr lang="en-US" dirty="0">
                <a:latin typeface="Monaco" pitchFamily="2" charset="77"/>
              </a:rPr>
              <a:t>#SBATCH --</a:t>
            </a:r>
            <a:r>
              <a:rPr lang="en-US" dirty="0" err="1">
                <a:latin typeface="Monaco" pitchFamily="2" charset="77"/>
              </a:rPr>
              <a:t>ntasks</a:t>
            </a:r>
            <a:r>
              <a:rPr lang="en-US" dirty="0">
                <a:latin typeface="Monaco" pitchFamily="2" charset="77"/>
              </a:rPr>
              <a:t>=1</a:t>
            </a:r>
          </a:p>
          <a:p>
            <a:r>
              <a:rPr lang="en-US" dirty="0">
                <a:latin typeface="Monaco" pitchFamily="2" charset="77"/>
              </a:rPr>
              <a:t>#SBATCH --</a:t>
            </a:r>
            <a:r>
              <a:rPr lang="en-US" dirty="0" err="1">
                <a:latin typeface="Monaco" pitchFamily="2" charset="77"/>
              </a:rPr>
              <a:t>cpus</a:t>
            </a:r>
            <a:r>
              <a:rPr lang="en-US" dirty="0">
                <a:latin typeface="Monaco" pitchFamily="2" charset="77"/>
              </a:rPr>
              <a:t>-per-task=1</a:t>
            </a:r>
          </a:p>
          <a:p>
            <a:r>
              <a:rPr lang="en-US" dirty="0">
                <a:latin typeface="Monaco" pitchFamily="2" charset="77"/>
              </a:rPr>
              <a:t>#SBATCH --mem=1g</a:t>
            </a:r>
          </a:p>
          <a:p>
            <a:r>
              <a:rPr lang="en-US" dirty="0">
                <a:latin typeface="Monaco" pitchFamily="2" charset="77"/>
              </a:rPr>
              <a:t>#SBATCH --time=00:05:00</a:t>
            </a:r>
          </a:p>
          <a:p>
            <a:r>
              <a:rPr lang="en-US" dirty="0">
                <a:latin typeface="Monaco" pitchFamily="2" charset="77"/>
              </a:rPr>
              <a:t>#SBATCH --job-name=</a:t>
            </a:r>
            <a:r>
              <a:rPr lang="en-US" dirty="0" err="1">
                <a:latin typeface="Monaco" pitchFamily="2" charset="77"/>
              </a:rPr>
              <a:t>module_test</a:t>
            </a:r>
            <a:endParaRPr lang="en-US" dirty="0">
              <a:latin typeface="Monaco" pitchFamily="2" charset="77"/>
            </a:endParaRPr>
          </a:p>
          <a:p>
            <a:r>
              <a:rPr lang="en-US" dirty="0">
                <a:latin typeface="Monaco" pitchFamily="2" charset="77"/>
              </a:rPr>
              <a:t>#SBATCH --output=/gpfs01/home/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Monaco" pitchFamily="2" charset="77"/>
              </a:rPr>
              <a:t>mbzlld</a:t>
            </a:r>
            <a:r>
              <a:rPr lang="en-US" dirty="0">
                <a:latin typeface="Monaco" pitchFamily="2" charset="77"/>
              </a:rPr>
              <a:t>/</a:t>
            </a:r>
            <a:r>
              <a:rPr lang="en-US" dirty="0" err="1">
                <a:latin typeface="Monaco" pitchFamily="2" charset="77"/>
              </a:rPr>
              <a:t>slurm</a:t>
            </a:r>
            <a:r>
              <a:rPr lang="en-US" dirty="0">
                <a:latin typeface="Monaco" pitchFamily="2" charset="77"/>
              </a:rPr>
              <a:t>-%x-%</a:t>
            </a:r>
            <a:r>
              <a:rPr lang="en-US" dirty="0" err="1">
                <a:latin typeface="Monaco" pitchFamily="2" charset="77"/>
              </a:rPr>
              <a:t>j.out</a:t>
            </a:r>
            <a:endParaRPr lang="en-US" dirty="0">
              <a:latin typeface="Monaco" pitchFamily="2" charset="77"/>
            </a:endParaRPr>
          </a:p>
          <a:p>
            <a:r>
              <a:rPr lang="en-US" dirty="0">
                <a:latin typeface="Monaco" pitchFamily="2" charset="77"/>
              </a:rPr>
              <a:t>#SBATCH --error=/gpfs01/home/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Monaco" pitchFamily="2" charset="77"/>
              </a:rPr>
              <a:t>mbzlld</a:t>
            </a:r>
            <a:r>
              <a:rPr lang="en-US" dirty="0">
                <a:latin typeface="Monaco" pitchFamily="2" charset="77"/>
              </a:rPr>
              <a:t>/</a:t>
            </a:r>
            <a:r>
              <a:rPr lang="en-US" dirty="0" err="1">
                <a:latin typeface="Monaco" pitchFamily="2" charset="77"/>
              </a:rPr>
              <a:t>slurm</a:t>
            </a:r>
            <a:r>
              <a:rPr lang="en-US" dirty="0">
                <a:latin typeface="Monaco" pitchFamily="2" charset="77"/>
              </a:rPr>
              <a:t>-%x-%</a:t>
            </a:r>
            <a:r>
              <a:rPr lang="en-US" dirty="0" err="1">
                <a:latin typeface="Monaco" pitchFamily="2" charset="77"/>
              </a:rPr>
              <a:t>j.err</a:t>
            </a:r>
            <a:endParaRPr lang="en-US" dirty="0">
              <a:latin typeface="Monaco" pitchFamily="2" charset="77"/>
            </a:endParaRPr>
          </a:p>
          <a:p>
            <a:r>
              <a:rPr lang="en-US" dirty="0">
                <a:latin typeface="Monaco" pitchFamily="2" charset="77"/>
              </a:rPr>
              <a:t>#SBATCH --mail-type=ALL</a:t>
            </a:r>
          </a:p>
          <a:p>
            <a:r>
              <a:rPr lang="en-US" dirty="0">
                <a:latin typeface="Monaco" pitchFamily="2" charset="77"/>
              </a:rPr>
              <a:t>#SBATCH --mail-user=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Monaco" pitchFamily="2" charset="77"/>
              </a:rPr>
              <a:t>mbzlld</a:t>
            </a:r>
            <a:r>
              <a:rPr lang="en-US" dirty="0" err="1">
                <a:latin typeface="Monaco" pitchFamily="2" charset="77"/>
              </a:rPr>
              <a:t>@exmail.nottingham.ac.uk</a:t>
            </a:r>
            <a:endParaRPr lang="en-US" dirty="0">
              <a:latin typeface="Monaco" pitchFamily="2" charset="77"/>
            </a:endParaRPr>
          </a:p>
          <a:p>
            <a:endParaRPr lang="en-US" dirty="0">
              <a:latin typeface="Monaco" pitchFamily="2" charset="77"/>
            </a:endParaRPr>
          </a:p>
          <a:p>
            <a:r>
              <a:rPr lang="en-US" dirty="0">
                <a:latin typeface="Monaco" pitchFamily="2" charset="77"/>
              </a:rPr>
              <a:t># load a module</a:t>
            </a:r>
          </a:p>
          <a:p>
            <a:r>
              <a:rPr lang="en-US" dirty="0">
                <a:latin typeface="Monaco" pitchFamily="2" charset="77"/>
              </a:rPr>
              <a:t>module load </a:t>
            </a:r>
            <a:r>
              <a:rPr lang="en-US" dirty="0" err="1">
                <a:latin typeface="Monaco" pitchFamily="2" charset="77"/>
              </a:rPr>
              <a:t>samtools-uoneasy</a:t>
            </a:r>
            <a:r>
              <a:rPr lang="en-US" dirty="0">
                <a:latin typeface="Monaco" pitchFamily="2" charset="77"/>
              </a:rPr>
              <a:t>/1.18-GCC-12.3.0</a:t>
            </a:r>
          </a:p>
          <a:p>
            <a:endParaRPr lang="en-US" dirty="0">
              <a:latin typeface="Monaco" pitchFamily="2" charset="77"/>
            </a:endParaRPr>
          </a:p>
          <a:p>
            <a:r>
              <a:rPr lang="en-US" dirty="0">
                <a:latin typeface="Monaco" pitchFamily="2" charset="77"/>
              </a:rPr>
              <a:t># print the help</a:t>
            </a:r>
          </a:p>
          <a:p>
            <a:r>
              <a:rPr lang="en-US" dirty="0" err="1">
                <a:latin typeface="Monaco" pitchFamily="2" charset="77"/>
              </a:rPr>
              <a:t>samtools</a:t>
            </a:r>
            <a:r>
              <a:rPr lang="en-US" dirty="0">
                <a:latin typeface="Monaco" pitchFamily="2" charset="77"/>
              </a:rPr>
              <a:t> --help</a:t>
            </a:r>
          </a:p>
          <a:p>
            <a:endParaRPr lang="en-US" dirty="0">
              <a:latin typeface="Monaco" pitchFamily="2" charset="77"/>
            </a:endParaRPr>
          </a:p>
          <a:p>
            <a:r>
              <a:rPr lang="en-US" dirty="0">
                <a:latin typeface="Monaco" pitchFamily="2" charset="77"/>
              </a:rPr>
              <a:t># unload the module</a:t>
            </a:r>
          </a:p>
          <a:p>
            <a:r>
              <a:rPr lang="en-US" dirty="0">
                <a:latin typeface="Monaco" pitchFamily="2" charset="77"/>
              </a:rPr>
              <a:t>module unload </a:t>
            </a:r>
            <a:r>
              <a:rPr lang="en-US" dirty="0" err="1">
                <a:latin typeface="Monaco" pitchFamily="2" charset="77"/>
              </a:rPr>
              <a:t>samtools-uoneasy</a:t>
            </a:r>
            <a:r>
              <a:rPr lang="en-US" dirty="0">
                <a:latin typeface="Monaco" pitchFamily="2" charset="77"/>
              </a:rPr>
              <a:t>/1.18-GCC-12.3.0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EFC788-9F29-3482-C2F0-B9C23FB94232}"/>
              </a:ext>
            </a:extLst>
          </p:cNvPr>
          <p:cNvSpPr/>
          <p:nvPr/>
        </p:nvSpPr>
        <p:spPr>
          <a:xfrm>
            <a:off x="8003969" y="987950"/>
            <a:ext cx="3924795" cy="1658268"/>
          </a:xfrm>
          <a:prstGeom prst="rect">
            <a:avLst/>
          </a:prstGeom>
          <a:solidFill>
            <a:schemeClr val="accent1">
              <a:alpha val="87941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Write another job submission script - try loading a module in the script and printing the help using the --help flag</a:t>
            </a:r>
          </a:p>
        </p:txBody>
      </p:sp>
    </p:spTree>
    <p:extLst>
      <p:ext uri="{BB962C8B-B14F-4D97-AF65-F5344CB8AC3E}">
        <p14:creationId xmlns:p14="http://schemas.microsoft.com/office/powerpoint/2010/main" val="111413419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5425C-5D01-8128-8538-8EF4C73A9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9F507-13F7-1829-0BDA-CA39BAD671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74983" y="-26894"/>
            <a:ext cx="7025089" cy="727114"/>
          </a:xfrm>
        </p:spPr>
        <p:txBody>
          <a:bodyPr>
            <a:noAutofit/>
          </a:bodyPr>
          <a:lstStyle/>
          <a:p>
            <a:r>
              <a:rPr lang="en-US" sz="3600" dirty="0"/>
              <a:t> requesting new software modules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7B5F04-06E3-B342-7BB2-09CA7656D3E3}"/>
              </a:ext>
            </a:extLst>
          </p:cNvPr>
          <p:cNvSpPr txBox="1"/>
          <p:nvPr/>
        </p:nvSpPr>
        <p:spPr>
          <a:xfrm>
            <a:off x="444723" y="799983"/>
            <a:ext cx="110659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>
                <a:solidFill>
                  <a:srgbClr val="323130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Use the IT self-service portal, like we did to request access to Ada</a:t>
            </a:r>
            <a:endParaRPr lang="en-GB" sz="2000" b="0" i="0" dirty="0">
              <a:solidFill>
                <a:srgbClr val="323130"/>
              </a:solidFill>
              <a:effectLst/>
              <a:highlight>
                <a:srgbClr val="FFFFFF"/>
              </a:highlight>
              <a:latin typeface="Segoe UI" panose="020B0502040204020203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935ADA-499E-C94F-B49D-F6EE387231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0383" y="1320998"/>
            <a:ext cx="8154635" cy="4800618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53AE772F-280E-1598-7FDF-74AED6FF203E}"/>
              </a:ext>
            </a:extLst>
          </p:cNvPr>
          <p:cNvSpPr/>
          <p:nvPr/>
        </p:nvSpPr>
        <p:spPr>
          <a:xfrm>
            <a:off x="2822654" y="2175164"/>
            <a:ext cx="2964873" cy="2784764"/>
          </a:xfrm>
          <a:prstGeom prst="ellipse">
            <a:avLst/>
          </a:prstGeom>
          <a:noFill/>
          <a:ln w="825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E053F1-9CE4-3233-6A40-8BA5E5354E4D}"/>
              </a:ext>
            </a:extLst>
          </p:cNvPr>
          <p:cNvSpPr txBox="1"/>
          <p:nvPr/>
        </p:nvSpPr>
        <p:spPr>
          <a:xfrm>
            <a:off x="0" y="6242521"/>
            <a:ext cx="121919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hlinkClick r:id="rId4"/>
              </a:rPr>
              <a:t>https://www.nottingham.ac.uk/dts/help/self-service-portal/self-service-portal.aspx</a:t>
            </a:r>
            <a:endParaRPr lang="en-US" sz="2400" dirty="0"/>
          </a:p>
          <a:p>
            <a:pPr algn="ctr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1269467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3028F-ED94-D3F6-60CF-A4CEE8553B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A6E259D-298A-82DC-0E4C-D27B0B65CE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924" y="1579038"/>
            <a:ext cx="10842481" cy="435070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FB041FC-50DE-D305-DD45-29F71A49E4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74983" y="-26894"/>
            <a:ext cx="7025089" cy="727114"/>
          </a:xfrm>
        </p:spPr>
        <p:txBody>
          <a:bodyPr>
            <a:noAutofit/>
          </a:bodyPr>
          <a:lstStyle/>
          <a:p>
            <a:r>
              <a:rPr lang="en-US" sz="3600" dirty="0"/>
              <a:t> requesting new software modules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D5D5CF-DB30-B7F8-2CFF-1E436B6D0F2D}"/>
              </a:ext>
            </a:extLst>
          </p:cNvPr>
          <p:cNvSpPr txBox="1"/>
          <p:nvPr/>
        </p:nvSpPr>
        <p:spPr>
          <a:xfrm>
            <a:off x="444723" y="799983"/>
            <a:ext cx="110659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>
                <a:solidFill>
                  <a:srgbClr val="323130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Search HPC and use the HPC Service Queries option</a:t>
            </a:r>
            <a:endParaRPr lang="en-GB" sz="2000" b="0" i="0" dirty="0">
              <a:solidFill>
                <a:srgbClr val="323130"/>
              </a:solidFill>
              <a:effectLst/>
              <a:highlight>
                <a:srgbClr val="FFFFFF"/>
              </a:highlight>
              <a:latin typeface="Segoe UI" panose="020B0502040204020203" pitchFamily="34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D927AD2-3EE5-3D14-D3C6-C9A1387E8665}"/>
              </a:ext>
            </a:extLst>
          </p:cNvPr>
          <p:cNvSpPr/>
          <p:nvPr/>
        </p:nvSpPr>
        <p:spPr>
          <a:xfrm>
            <a:off x="4083418" y="2618510"/>
            <a:ext cx="2964873" cy="2784764"/>
          </a:xfrm>
          <a:prstGeom prst="ellipse">
            <a:avLst/>
          </a:prstGeom>
          <a:noFill/>
          <a:ln w="825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73919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CE777-ABEB-6023-40DD-660DFBDCFE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74983" y="53788"/>
            <a:ext cx="7025089" cy="727114"/>
          </a:xfrm>
        </p:spPr>
        <p:txBody>
          <a:bodyPr>
            <a:noAutofit/>
          </a:bodyPr>
          <a:lstStyle/>
          <a:p>
            <a:r>
              <a:rPr lang="en-US" sz="3600" dirty="0" err="1"/>
              <a:t>UoN</a:t>
            </a:r>
            <a:r>
              <a:rPr lang="en-US" sz="3600" dirty="0"/>
              <a:t> HPC – Ada – </a:t>
            </a:r>
            <a:r>
              <a:rPr lang="en-US" sz="3600" dirty="0" err="1"/>
              <a:t>conda</a:t>
            </a:r>
            <a:endParaRPr lang="en-US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D9E5AF-FBE8-BDB2-9474-7839E3682B88}"/>
              </a:ext>
            </a:extLst>
          </p:cNvPr>
          <p:cNvSpPr txBox="1"/>
          <p:nvPr/>
        </p:nvSpPr>
        <p:spPr>
          <a:xfrm>
            <a:off x="201706" y="1201382"/>
            <a:ext cx="110659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solidFill>
                  <a:srgbClr val="323130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You can install and use </a:t>
            </a:r>
            <a:r>
              <a:rPr lang="en-GB" sz="2000" dirty="0" err="1">
                <a:solidFill>
                  <a:srgbClr val="323130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Conda</a:t>
            </a:r>
            <a:r>
              <a:rPr lang="en-GB" sz="2000" dirty="0">
                <a:solidFill>
                  <a:srgbClr val="323130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 just as you did on your own laptops</a:t>
            </a:r>
            <a:endParaRPr lang="en-GB" sz="2000" b="0" i="0" dirty="0">
              <a:solidFill>
                <a:srgbClr val="323130"/>
              </a:solidFill>
              <a:effectLst/>
              <a:highlight>
                <a:srgbClr val="FFFFFF"/>
              </a:highlight>
              <a:latin typeface="Segoe UI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48F47E-1F11-2073-2DED-0327940C74DB}"/>
              </a:ext>
            </a:extLst>
          </p:cNvPr>
          <p:cNvSpPr txBox="1"/>
          <p:nvPr/>
        </p:nvSpPr>
        <p:spPr>
          <a:xfrm>
            <a:off x="201706" y="2055564"/>
            <a:ext cx="11990294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solidFill>
                  <a:srgbClr val="323130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TO DOWNLOAD:  </a:t>
            </a:r>
            <a:r>
              <a:rPr lang="en-GB" sz="2000" dirty="0">
                <a:solidFill>
                  <a:schemeClr val="accent6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&gt;</a:t>
            </a:r>
            <a:r>
              <a:rPr lang="en-GB" sz="2000" dirty="0">
                <a:solidFill>
                  <a:srgbClr val="323130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 </a:t>
            </a:r>
            <a:r>
              <a:rPr lang="en-GB" sz="2000" dirty="0" err="1">
                <a:solidFill>
                  <a:srgbClr val="323130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wget</a:t>
            </a:r>
            <a:r>
              <a:rPr lang="en-GB" sz="2000" dirty="0">
                <a:solidFill>
                  <a:srgbClr val="323130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 https://</a:t>
            </a:r>
            <a:r>
              <a:rPr lang="en-GB" sz="2000" dirty="0" err="1">
                <a:solidFill>
                  <a:srgbClr val="323130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repo.anaconda.com</a:t>
            </a:r>
            <a:r>
              <a:rPr lang="en-GB" sz="2000" dirty="0">
                <a:solidFill>
                  <a:srgbClr val="323130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/</a:t>
            </a:r>
            <a:r>
              <a:rPr lang="en-GB" sz="2000" dirty="0" err="1">
                <a:solidFill>
                  <a:srgbClr val="323130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miniconda</a:t>
            </a:r>
            <a:r>
              <a:rPr lang="en-GB" sz="2000" dirty="0">
                <a:solidFill>
                  <a:srgbClr val="323130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/Miniconda3-latest-Linux-x86_64.sh</a:t>
            </a:r>
          </a:p>
          <a:p>
            <a:r>
              <a:rPr lang="en-GB" sz="2000" b="0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TO INSTALL:	</a:t>
            </a:r>
            <a:r>
              <a:rPr lang="en-GB" sz="2000" dirty="0">
                <a:solidFill>
                  <a:srgbClr val="323130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   </a:t>
            </a:r>
            <a:r>
              <a:rPr lang="en-GB" sz="2000" dirty="0">
                <a:solidFill>
                  <a:schemeClr val="accent6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&gt;</a:t>
            </a:r>
            <a:r>
              <a:rPr lang="en-GB" sz="2000" dirty="0">
                <a:solidFill>
                  <a:srgbClr val="323130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 bash Miniconda3-latest-Linux-x86_64.sh</a:t>
            </a:r>
          </a:p>
          <a:p>
            <a:endParaRPr lang="en-GB" sz="2000" b="0" i="0" dirty="0">
              <a:solidFill>
                <a:srgbClr val="323130"/>
              </a:solidFill>
              <a:effectLst/>
              <a:highlight>
                <a:srgbClr val="FFFFFF"/>
              </a:highlight>
              <a:latin typeface="Segoe UI" panose="020B0502040204020203" pitchFamily="34" charset="0"/>
            </a:endParaRPr>
          </a:p>
          <a:p>
            <a:r>
              <a:rPr lang="en-GB" sz="2000" dirty="0">
                <a:solidFill>
                  <a:srgbClr val="323130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Say yes to everything it asks you during the install process - accept the license terms with yes and accept the default install location by pressing return</a:t>
            </a:r>
          </a:p>
          <a:p>
            <a:r>
              <a:rPr lang="en-GB" sz="2000" dirty="0">
                <a:solidFill>
                  <a:srgbClr val="323130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Log out of Ada and back in again</a:t>
            </a:r>
            <a:endParaRPr lang="en-GB" sz="2000" b="0" i="0" dirty="0">
              <a:solidFill>
                <a:srgbClr val="323130"/>
              </a:solidFill>
              <a:effectLst/>
              <a:highlight>
                <a:srgbClr val="FFFFFF"/>
              </a:highlight>
              <a:latin typeface="Segoe UI" panose="020B0502040204020203" pitchFamily="34" charset="0"/>
            </a:endParaRPr>
          </a:p>
          <a:p>
            <a:r>
              <a:rPr lang="en-GB" sz="2000" b="0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Then run the following commands:</a:t>
            </a:r>
          </a:p>
          <a:p>
            <a:endParaRPr lang="en-GB" sz="2000" b="0" i="0" dirty="0">
              <a:solidFill>
                <a:srgbClr val="323130"/>
              </a:solidFill>
              <a:effectLst/>
              <a:highlight>
                <a:srgbClr val="FFFFFF"/>
              </a:highlight>
              <a:latin typeface="Segoe UI" panose="020B0502040204020203" pitchFamily="34" charset="0"/>
            </a:endParaRPr>
          </a:p>
          <a:p>
            <a:r>
              <a:rPr lang="en-GB" sz="2000" b="0" i="0" dirty="0">
                <a:solidFill>
                  <a:schemeClr val="accent6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&gt;</a:t>
            </a:r>
            <a:r>
              <a:rPr lang="en-GB" sz="2000" b="0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 </a:t>
            </a:r>
            <a:r>
              <a:rPr lang="en-GB" sz="2000" b="0" i="0" dirty="0" err="1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conda</a:t>
            </a:r>
            <a:r>
              <a:rPr lang="en-GB" sz="2000" b="0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 config --set </a:t>
            </a:r>
            <a:r>
              <a:rPr lang="en-GB" sz="2000" b="0" i="0" dirty="0" err="1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auto_activate_base</a:t>
            </a:r>
            <a:r>
              <a:rPr lang="en-GB" sz="2000" b="0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 false</a:t>
            </a:r>
          </a:p>
          <a:p>
            <a:r>
              <a:rPr lang="en-GB" sz="2000" b="0" i="0" dirty="0">
                <a:solidFill>
                  <a:schemeClr val="accent6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&gt;</a:t>
            </a:r>
            <a:r>
              <a:rPr lang="en-GB" sz="2000" b="0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 </a:t>
            </a:r>
            <a:r>
              <a:rPr lang="en-GB" sz="2000" b="0" i="0" dirty="0" err="1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conda</a:t>
            </a:r>
            <a:r>
              <a:rPr lang="en-GB" sz="2000" b="0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 config --set </a:t>
            </a:r>
            <a:r>
              <a:rPr lang="en-GB" sz="2000" b="0" i="0" dirty="0" err="1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env_prompt</a:t>
            </a:r>
            <a:r>
              <a:rPr lang="en-GB" sz="2000" b="0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 '({name})'</a:t>
            </a:r>
          </a:p>
          <a:p>
            <a:r>
              <a:rPr lang="en-GB" sz="2000" b="0" i="0" dirty="0">
                <a:solidFill>
                  <a:schemeClr val="accent6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&gt;</a:t>
            </a:r>
            <a:r>
              <a:rPr lang="en-GB" sz="2000" b="0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 </a:t>
            </a:r>
            <a:r>
              <a:rPr lang="en-GB" sz="2000" b="0" i="0" dirty="0" err="1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conda</a:t>
            </a:r>
            <a:r>
              <a:rPr lang="en-GB" sz="2000" b="0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 config --append channels </a:t>
            </a:r>
            <a:r>
              <a:rPr lang="en-GB" sz="2000" b="0" i="0" dirty="0" err="1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conda</a:t>
            </a:r>
            <a:r>
              <a:rPr lang="en-GB" sz="2000" b="0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-forge</a:t>
            </a:r>
          </a:p>
          <a:p>
            <a:r>
              <a:rPr lang="en-GB" sz="2000" b="0" i="0" dirty="0">
                <a:solidFill>
                  <a:schemeClr val="accent6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&gt;</a:t>
            </a:r>
            <a:r>
              <a:rPr lang="en-GB" sz="2000" b="0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 </a:t>
            </a:r>
            <a:r>
              <a:rPr lang="en-GB" sz="2000" b="0" i="0" dirty="0" err="1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conda</a:t>
            </a:r>
            <a:r>
              <a:rPr lang="en-GB" sz="2000" b="0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 config --append channels </a:t>
            </a:r>
            <a:r>
              <a:rPr lang="en-GB" sz="2000" b="0" i="0" dirty="0" err="1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bioconda</a:t>
            </a:r>
            <a:endParaRPr lang="en-GB" sz="2000" b="0" i="0" dirty="0">
              <a:solidFill>
                <a:srgbClr val="323130"/>
              </a:solidFill>
              <a:effectLst/>
              <a:highlight>
                <a:srgbClr val="FFFFFF"/>
              </a:highlight>
              <a:latin typeface="Segoe UI" panose="020B0502040204020203" pitchFamily="34" charset="0"/>
            </a:endParaRPr>
          </a:p>
          <a:p>
            <a:r>
              <a:rPr lang="en-GB" sz="2000" b="0" i="0" dirty="0">
                <a:solidFill>
                  <a:schemeClr val="accent6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&gt;</a:t>
            </a:r>
            <a:r>
              <a:rPr lang="en-GB" sz="2000" b="0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 </a:t>
            </a:r>
            <a:r>
              <a:rPr lang="en-GB" sz="2000" b="0" i="0" dirty="0" err="1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conda</a:t>
            </a:r>
            <a:r>
              <a:rPr lang="en-GB" sz="2000" b="0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 deactivate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863497-675A-B2FC-C20E-84DCB090DDC9}"/>
              </a:ext>
            </a:extLst>
          </p:cNvPr>
          <p:cNvSpPr txBox="1"/>
          <p:nvPr/>
        </p:nvSpPr>
        <p:spPr>
          <a:xfrm>
            <a:off x="539726" y="6201086"/>
            <a:ext cx="1150971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dirty="0">
                <a:solidFill>
                  <a:srgbClr val="323130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Then create environments and install software just like you have on your own laptop!</a:t>
            </a:r>
            <a:endParaRPr lang="en-GB" sz="2000" b="0" i="0" dirty="0">
              <a:solidFill>
                <a:srgbClr val="323130"/>
              </a:solidFill>
              <a:effectLst/>
              <a:highlight>
                <a:srgbClr val="FFFFFF"/>
              </a:highlight>
              <a:latin typeface="Segoe UI" panose="020B0502040204020203" pitchFamily="34" charset="0"/>
            </a:endParaRPr>
          </a:p>
        </p:txBody>
      </p:sp>
      <p:pic>
        <p:nvPicPr>
          <p:cNvPr id="10242" name="Picture 2" descr="Conda — CRC User documentation">
            <a:extLst>
              <a:ext uri="{FF2B5EF4-FFF2-40B4-BE49-F238E27FC236}">
                <a16:creationId xmlns:a16="http://schemas.microsoft.com/office/drawing/2014/main" id="{7A3F1AC2-B586-48BE-03B7-7AF37EE4D0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01162" y="456859"/>
            <a:ext cx="4353273" cy="17486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27039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62D9B-FBAF-1D4F-C80A-109BD121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6B4D2-B097-A689-3055-7875992D38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7565" y="-15487"/>
            <a:ext cx="11716870" cy="727114"/>
          </a:xfrm>
        </p:spPr>
        <p:txBody>
          <a:bodyPr>
            <a:noAutofit/>
          </a:bodyPr>
          <a:lstStyle/>
          <a:p>
            <a:r>
              <a:rPr lang="en-US" sz="3600" dirty="0"/>
              <a:t>EXAMPLE: using </a:t>
            </a:r>
            <a:r>
              <a:rPr lang="en-US" sz="3600" dirty="0" err="1"/>
              <a:t>conda</a:t>
            </a:r>
            <a:r>
              <a:rPr lang="en-US" sz="3600" dirty="0"/>
              <a:t> in a job submission script</a:t>
            </a:r>
          </a:p>
        </p:txBody>
      </p:sp>
      <p:pic>
        <p:nvPicPr>
          <p:cNvPr id="10242" name="Picture 2" descr="Conda — CRC User documentation">
            <a:extLst>
              <a:ext uri="{FF2B5EF4-FFF2-40B4-BE49-F238E27FC236}">
                <a16:creationId xmlns:a16="http://schemas.microsoft.com/office/drawing/2014/main" id="{01AFE415-600E-41F0-6D96-D6B45B7FED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01162" y="456859"/>
            <a:ext cx="4353273" cy="17486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8C5227B-425C-C660-3E54-1351237F228C}"/>
              </a:ext>
            </a:extLst>
          </p:cNvPr>
          <p:cNvSpPr txBox="1"/>
          <p:nvPr/>
        </p:nvSpPr>
        <p:spPr>
          <a:xfrm>
            <a:off x="1112348" y="732347"/>
            <a:ext cx="10203348" cy="6001643"/>
          </a:xfrm>
          <a:prstGeom prst="rect">
            <a:avLst/>
          </a:prstGeom>
          <a:solidFill>
            <a:schemeClr val="accent1">
              <a:alpha val="16000"/>
            </a:schemeClr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1600" dirty="0">
                <a:latin typeface="Monaco" pitchFamily="2" charset="77"/>
              </a:rPr>
              <a:t>#!/bin/bash</a:t>
            </a:r>
          </a:p>
          <a:p>
            <a:endParaRPr lang="en-US" sz="1600" dirty="0">
              <a:latin typeface="Monaco" pitchFamily="2" charset="77"/>
            </a:endParaRPr>
          </a:p>
          <a:p>
            <a:r>
              <a:rPr lang="en-US" sz="1600" dirty="0">
                <a:latin typeface="Monaco" pitchFamily="2" charset="77"/>
              </a:rPr>
              <a:t>#SBATCH --partition=</a:t>
            </a:r>
            <a:r>
              <a:rPr lang="en-US" sz="1600" dirty="0" err="1">
                <a:latin typeface="Monaco" pitchFamily="2" charset="77"/>
              </a:rPr>
              <a:t>defq</a:t>
            </a:r>
            <a:endParaRPr lang="en-US" sz="1600" dirty="0">
              <a:latin typeface="Monaco" pitchFamily="2" charset="77"/>
            </a:endParaRPr>
          </a:p>
          <a:p>
            <a:r>
              <a:rPr lang="en-US" sz="1600" dirty="0">
                <a:latin typeface="Monaco" pitchFamily="2" charset="77"/>
              </a:rPr>
              <a:t>#SBATCH --nodes=1</a:t>
            </a:r>
          </a:p>
          <a:p>
            <a:r>
              <a:rPr lang="en-US" sz="1600" dirty="0">
                <a:latin typeface="Monaco" pitchFamily="2" charset="77"/>
              </a:rPr>
              <a:t>#SBATCH --</a:t>
            </a:r>
            <a:r>
              <a:rPr lang="en-US" sz="1600" dirty="0" err="1">
                <a:latin typeface="Monaco" pitchFamily="2" charset="77"/>
              </a:rPr>
              <a:t>ntasks</a:t>
            </a:r>
            <a:r>
              <a:rPr lang="en-US" sz="1600" dirty="0">
                <a:latin typeface="Monaco" pitchFamily="2" charset="77"/>
              </a:rPr>
              <a:t>=1</a:t>
            </a:r>
          </a:p>
          <a:p>
            <a:r>
              <a:rPr lang="en-US" sz="1600" dirty="0">
                <a:latin typeface="Monaco" pitchFamily="2" charset="77"/>
              </a:rPr>
              <a:t>#SBATCH --</a:t>
            </a:r>
            <a:r>
              <a:rPr lang="en-US" sz="1600" dirty="0" err="1">
                <a:latin typeface="Monaco" pitchFamily="2" charset="77"/>
              </a:rPr>
              <a:t>cpus</a:t>
            </a:r>
            <a:r>
              <a:rPr lang="en-US" sz="1600" dirty="0">
                <a:latin typeface="Monaco" pitchFamily="2" charset="77"/>
              </a:rPr>
              <a:t>-per-task=1</a:t>
            </a:r>
          </a:p>
          <a:p>
            <a:r>
              <a:rPr lang="en-US" sz="1600" dirty="0">
                <a:latin typeface="Monaco" pitchFamily="2" charset="77"/>
              </a:rPr>
              <a:t>#SBATCH --mem=1g</a:t>
            </a:r>
          </a:p>
          <a:p>
            <a:r>
              <a:rPr lang="en-US" sz="1600" dirty="0">
                <a:latin typeface="Monaco" pitchFamily="2" charset="77"/>
              </a:rPr>
              <a:t>#SBATCH --time=00:05:00</a:t>
            </a:r>
          </a:p>
          <a:p>
            <a:r>
              <a:rPr lang="en-US" sz="1600" dirty="0">
                <a:latin typeface="Monaco" pitchFamily="2" charset="77"/>
              </a:rPr>
              <a:t>#SBATCH --job-name=</a:t>
            </a:r>
            <a:r>
              <a:rPr lang="en-US" sz="1600" dirty="0" err="1">
                <a:latin typeface="Monaco" pitchFamily="2" charset="77"/>
              </a:rPr>
              <a:t>my_job</a:t>
            </a:r>
            <a:endParaRPr lang="en-US" sz="1600" dirty="0">
              <a:latin typeface="Monaco" pitchFamily="2" charset="77"/>
            </a:endParaRPr>
          </a:p>
          <a:p>
            <a:r>
              <a:rPr lang="en-US" sz="1600" dirty="0">
                <a:latin typeface="Monaco" pitchFamily="2" charset="77"/>
              </a:rPr>
              <a:t>#SBATCH --output=/gpfs01/home/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Monaco" pitchFamily="2" charset="77"/>
              </a:rPr>
              <a:t>mbzlld</a:t>
            </a:r>
            <a:r>
              <a:rPr lang="en-US" sz="1600" dirty="0">
                <a:latin typeface="Monaco" pitchFamily="2" charset="77"/>
              </a:rPr>
              <a:t>/</a:t>
            </a:r>
            <a:r>
              <a:rPr lang="en-US" sz="1600" dirty="0" err="1">
                <a:latin typeface="Monaco" pitchFamily="2" charset="77"/>
              </a:rPr>
              <a:t>slurm</a:t>
            </a:r>
            <a:r>
              <a:rPr lang="en-US" sz="1600" dirty="0">
                <a:latin typeface="Monaco" pitchFamily="2" charset="77"/>
              </a:rPr>
              <a:t>-%x-%</a:t>
            </a:r>
            <a:r>
              <a:rPr lang="en-US" sz="1600" dirty="0" err="1">
                <a:latin typeface="Monaco" pitchFamily="2" charset="77"/>
              </a:rPr>
              <a:t>j.out</a:t>
            </a:r>
            <a:endParaRPr lang="en-US" sz="1600" dirty="0">
              <a:latin typeface="Monaco" pitchFamily="2" charset="77"/>
            </a:endParaRPr>
          </a:p>
          <a:p>
            <a:r>
              <a:rPr lang="en-US" sz="1600" dirty="0">
                <a:latin typeface="Monaco" pitchFamily="2" charset="77"/>
              </a:rPr>
              <a:t>#SBATCH --error=/gpfs01/home/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Monaco" pitchFamily="2" charset="77"/>
              </a:rPr>
              <a:t>mbzlld</a:t>
            </a:r>
            <a:r>
              <a:rPr lang="en-US" sz="1600" dirty="0">
                <a:latin typeface="Monaco" pitchFamily="2" charset="77"/>
              </a:rPr>
              <a:t>/</a:t>
            </a:r>
            <a:r>
              <a:rPr lang="en-US" sz="1600" dirty="0" err="1">
                <a:latin typeface="Monaco" pitchFamily="2" charset="77"/>
              </a:rPr>
              <a:t>slurm</a:t>
            </a:r>
            <a:r>
              <a:rPr lang="en-US" sz="1600" dirty="0">
                <a:latin typeface="Monaco" pitchFamily="2" charset="77"/>
              </a:rPr>
              <a:t>-%x-%</a:t>
            </a:r>
            <a:r>
              <a:rPr lang="en-US" sz="1600" dirty="0" err="1">
                <a:latin typeface="Monaco" pitchFamily="2" charset="77"/>
              </a:rPr>
              <a:t>j.err</a:t>
            </a:r>
            <a:endParaRPr lang="en-US" sz="1600" dirty="0">
              <a:latin typeface="Monaco" pitchFamily="2" charset="77"/>
            </a:endParaRPr>
          </a:p>
          <a:p>
            <a:r>
              <a:rPr lang="en-US" sz="1600" dirty="0">
                <a:latin typeface="Monaco" pitchFamily="2" charset="77"/>
              </a:rPr>
              <a:t>#SBATCH --mail-type=ALL</a:t>
            </a:r>
          </a:p>
          <a:p>
            <a:r>
              <a:rPr lang="en-US" sz="1600" dirty="0">
                <a:latin typeface="Monaco" pitchFamily="2" charset="77"/>
              </a:rPr>
              <a:t>#SBATCH --mail-user=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Monaco" pitchFamily="2" charset="77"/>
              </a:rPr>
              <a:t>mbzlld</a:t>
            </a:r>
            <a:r>
              <a:rPr lang="en-US" sz="1600" dirty="0" err="1">
                <a:latin typeface="Monaco" pitchFamily="2" charset="77"/>
              </a:rPr>
              <a:t>@exmail.nottingham.ac.uk</a:t>
            </a:r>
            <a:endParaRPr lang="en-US" sz="1600" dirty="0">
              <a:latin typeface="Monaco" pitchFamily="2" charset="77"/>
            </a:endParaRPr>
          </a:p>
          <a:p>
            <a:endParaRPr lang="en-US" sz="1600" dirty="0">
              <a:latin typeface="Monaco" pitchFamily="2" charset="77"/>
            </a:endParaRPr>
          </a:p>
          <a:p>
            <a:r>
              <a:rPr lang="en-US" sz="1600" dirty="0">
                <a:latin typeface="Monaco" pitchFamily="2" charset="77"/>
              </a:rPr>
              <a:t># source your bash profile so you can use </a:t>
            </a:r>
            <a:r>
              <a:rPr lang="en-US" sz="1600" dirty="0" err="1">
                <a:latin typeface="Monaco" pitchFamily="2" charset="77"/>
              </a:rPr>
              <a:t>conda</a:t>
            </a:r>
            <a:endParaRPr lang="en-US" sz="1600" dirty="0">
              <a:latin typeface="Monaco" pitchFamily="2" charset="77"/>
            </a:endParaRPr>
          </a:p>
          <a:p>
            <a:r>
              <a:rPr lang="en-US" sz="1600" dirty="0">
                <a:latin typeface="Monaco" pitchFamily="2" charset="77"/>
              </a:rPr>
              <a:t>source $HOME/.</a:t>
            </a:r>
            <a:r>
              <a:rPr lang="en-US" sz="1600" dirty="0" err="1">
                <a:latin typeface="Monaco" pitchFamily="2" charset="77"/>
              </a:rPr>
              <a:t>bash_profile</a:t>
            </a:r>
            <a:endParaRPr lang="en-US" sz="1600" dirty="0">
              <a:latin typeface="Monaco" pitchFamily="2" charset="77"/>
            </a:endParaRPr>
          </a:p>
          <a:p>
            <a:endParaRPr lang="en-US" sz="1600" dirty="0">
              <a:latin typeface="Monaco" pitchFamily="2" charset="77"/>
            </a:endParaRPr>
          </a:p>
          <a:p>
            <a:r>
              <a:rPr lang="en-US" sz="1600" dirty="0">
                <a:latin typeface="Monaco" pitchFamily="2" charset="77"/>
              </a:rPr>
              <a:t># activate </a:t>
            </a:r>
            <a:r>
              <a:rPr lang="en-US" sz="1600" dirty="0" err="1">
                <a:latin typeface="Monaco" pitchFamily="2" charset="77"/>
              </a:rPr>
              <a:t>conda</a:t>
            </a:r>
            <a:r>
              <a:rPr lang="en-US" sz="1600" dirty="0">
                <a:latin typeface="Monaco" pitchFamily="2" charset="77"/>
              </a:rPr>
              <a:t> environment</a:t>
            </a:r>
          </a:p>
          <a:p>
            <a:r>
              <a:rPr lang="en-US" sz="1600" dirty="0" err="1">
                <a:latin typeface="Monaco" pitchFamily="2" charset="77"/>
              </a:rPr>
              <a:t>conda</a:t>
            </a:r>
            <a:r>
              <a:rPr lang="en-US" sz="1600" dirty="0">
                <a:latin typeface="Monaco" pitchFamily="2" charset="77"/>
              </a:rPr>
              <a:t> activate </a:t>
            </a:r>
            <a:r>
              <a:rPr lang="en-US" sz="1600" dirty="0" err="1">
                <a:latin typeface="Monaco" pitchFamily="2" charset="77"/>
              </a:rPr>
              <a:t>environment_name</a:t>
            </a:r>
            <a:endParaRPr lang="en-US" sz="1600" dirty="0">
              <a:latin typeface="Monaco" pitchFamily="2" charset="77"/>
            </a:endParaRPr>
          </a:p>
          <a:p>
            <a:endParaRPr lang="en-US" sz="1600" dirty="0">
              <a:latin typeface="Monaco" pitchFamily="2" charset="77"/>
            </a:endParaRPr>
          </a:p>
          <a:p>
            <a:r>
              <a:rPr lang="en-US" sz="1600" dirty="0">
                <a:latin typeface="Monaco" pitchFamily="2" charset="77"/>
              </a:rPr>
              <a:t># do some tasks within </a:t>
            </a:r>
            <a:r>
              <a:rPr lang="en-US" sz="1600" dirty="0" err="1">
                <a:latin typeface="Monaco" pitchFamily="2" charset="77"/>
              </a:rPr>
              <a:t>conda</a:t>
            </a:r>
            <a:r>
              <a:rPr lang="en-US" sz="1600" dirty="0">
                <a:latin typeface="Monaco" pitchFamily="2" charset="77"/>
              </a:rPr>
              <a:t> environment</a:t>
            </a:r>
          </a:p>
          <a:p>
            <a:endParaRPr lang="en-US" sz="1600" dirty="0">
              <a:latin typeface="Monaco" pitchFamily="2" charset="77"/>
            </a:endParaRPr>
          </a:p>
          <a:p>
            <a:r>
              <a:rPr lang="en-US" sz="1600" dirty="0">
                <a:latin typeface="Monaco" pitchFamily="2" charset="77"/>
              </a:rPr>
              <a:t># deactivate </a:t>
            </a:r>
            <a:r>
              <a:rPr lang="en-US" sz="1600" dirty="0" err="1">
                <a:latin typeface="Monaco" pitchFamily="2" charset="77"/>
              </a:rPr>
              <a:t>conda</a:t>
            </a:r>
            <a:r>
              <a:rPr lang="en-US" sz="1600" dirty="0">
                <a:latin typeface="Monaco" pitchFamily="2" charset="77"/>
              </a:rPr>
              <a:t> environment</a:t>
            </a:r>
          </a:p>
          <a:p>
            <a:r>
              <a:rPr lang="en-US" sz="1600" dirty="0" err="1">
                <a:latin typeface="Monaco" pitchFamily="2" charset="77"/>
              </a:rPr>
              <a:t>conda</a:t>
            </a:r>
            <a:r>
              <a:rPr lang="en-US" sz="1600" dirty="0">
                <a:latin typeface="Monaco" pitchFamily="2" charset="77"/>
              </a:rPr>
              <a:t> deactivate</a:t>
            </a:r>
            <a:endParaRPr lang="en-US" sz="1600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8937668-10C2-9B57-B95C-CE0A91DC4800}"/>
              </a:ext>
            </a:extLst>
          </p:cNvPr>
          <p:cNvCxnSpPr>
            <a:cxnSpLocks/>
          </p:cNvCxnSpPr>
          <p:nvPr/>
        </p:nvCxnSpPr>
        <p:spPr>
          <a:xfrm flipH="1">
            <a:off x="7282508" y="4433454"/>
            <a:ext cx="7620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BD3B6C66-8DA3-C7B4-F900-5968BB1885EC}"/>
              </a:ext>
            </a:extLst>
          </p:cNvPr>
          <p:cNvSpPr/>
          <p:nvPr/>
        </p:nvSpPr>
        <p:spPr>
          <a:xfrm>
            <a:off x="8167704" y="3940668"/>
            <a:ext cx="3467361" cy="1058191"/>
          </a:xfrm>
          <a:prstGeom prst="rect">
            <a:avLst/>
          </a:prstGeom>
          <a:solidFill>
            <a:schemeClr val="accent1">
              <a:alpha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Conda</a:t>
            </a:r>
            <a:r>
              <a:rPr lang="en-US" dirty="0"/>
              <a:t> will not work unless you source your bash profile before you use it</a:t>
            </a:r>
          </a:p>
        </p:txBody>
      </p:sp>
    </p:spTree>
    <p:extLst>
      <p:ext uri="{BB962C8B-B14F-4D97-AF65-F5344CB8AC3E}">
        <p14:creationId xmlns:p14="http://schemas.microsoft.com/office/powerpoint/2010/main" val="28219587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CE777-ABEB-6023-40DD-660DFBDCFE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1999" cy="727114"/>
          </a:xfrm>
        </p:spPr>
        <p:txBody>
          <a:bodyPr>
            <a:noAutofit/>
          </a:bodyPr>
          <a:lstStyle/>
          <a:p>
            <a:r>
              <a:rPr lang="en-US" sz="3600" dirty="0" err="1"/>
              <a:t>UoN</a:t>
            </a:r>
            <a:r>
              <a:rPr lang="en-US" sz="3600" dirty="0"/>
              <a:t> HPC – Ada – moving data - files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D9E5AF-FBE8-BDB2-9474-7839E3682B88}"/>
              </a:ext>
            </a:extLst>
          </p:cNvPr>
          <p:cNvSpPr txBox="1"/>
          <p:nvPr/>
        </p:nvSpPr>
        <p:spPr>
          <a:xfrm>
            <a:off x="-493253" y="3884292"/>
            <a:ext cx="116001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 err="1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s</a:t>
            </a:r>
            <a:r>
              <a:rPr lang="en-GB" b="0" i="0" dirty="0" err="1">
                <a:solidFill>
                  <a:srgbClr val="323130"/>
                </a:solidFill>
                <a:effectLst/>
                <a:highlight>
                  <a:srgbClr val="FFFFFF"/>
                </a:highlight>
                <a:latin typeface="Monaco" pitchFamily="2" charset="77"/>
              </a:rPr>
              <a:t>cp</a:t>
            </a:r>
            <a:r>
              <a:rPr lang="en-GB" b="0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Monaco" pitchFamily="2" charset="77"/>
              </a:rPr>
              <a:t> </a:t>
            </a:r>
            <a:r>
              <a:rPr lang="en-GB" dirty="0" err="1">
                <a:highlight>
                  <a:srgbClr val="FFFFFF"/>
                </a:highlight>
                <a:latin typeface="Monaco" pitchFamily="2" charset="77"/>
              </a:rPr>
              <a:t>ada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:~/</a:t>
            </a:r>
            <a:r>
              <a:rPr lang="en-GB" dirty="0">
                <a:solidFill>
                  <a:schemeClr val="accent3"/>
                </a:solidFill>
                <a:highlight>
                  <a:srgbClr val="FFFFFF"/>
                </a:highlight>
                <a:latin typeface="Monaco" pitchFamily="2" charset="77"/>
              </a:rPr>
              <a:t>path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/</a:t>
            </a:r>
            <a:r>
              <a:rPr lang="en-GB" dirty="0">
                <a:solidFill>
                  <a:schemeClr val="accent3"/>
                </a:solidFill>
                <a:highlight>
                  <a:srgbClr val="FFFFFF"/>
                </a:highlight>
                <a:latin typeface="Monaco" pitchFamily="2" charset="77"/>
              </a:rPr>
              <a:t>to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/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Monaco" pitchFamily="2" charset="77"/>
              </a:rPr>
              <a:t>file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/</a:t>
            </a:r>
            <a:r>
              <a:rPr lang="en-GB" dirty="0" err="1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Monaco" pitchFamily="2" charset="77"/>
              </a:rPr>
              <a:t>file.txt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Monaco" pitchFamily="2" charset="77"/>
              </a:rPr>
              <a:t> 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./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9D7D8E-FA6C-DCA4-60E3-3235B4E31C75}"/>
              </a:ext>
            </a:extLst>
          </p:cNvPr>
          <p:cNvSpPr txBox="1"/>
          <p:nvPr/>
        </p:nvSpPr>
        <p:spPr>
          <a:xfrm>
            <a:off x="555215" y="3429000"/>
            <a:ext cx="811377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000" b="1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To copy a file from Ada to the current directory on your laptop: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FBF7B2-56C9-F9E6-4EC4-92A0C0E0C298}"/>
              </a:ext>
            </a:extLst>
          </p:cNvPr>
          <p:cNvSpPr txBox="1"/>
          <p:nvPr/>
        </p:nvSpPr>
        <p:spPr>
          <a:xfrm>
            <a:off x="555216" y="5031014"/>
            <a:ext cx="950318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000" b="1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To copy a </a:t>
            </a:r>
            <a:r>
              <a:rPr lang="en-GB" sz="2000" b="1" dirty="0">
                <a:solidFill>
                  <a:srgbClr val="323130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file</a:t>
            </a:r>
            <a:r>
              <a:rPr lang="en-GB" sz="2000" b="1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 from the current directory on your laptop to Ada: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5FCE90-A18C-A088-EBF9-76237023B92E}"/>
              </a:ext>
            </a:extLst>
          </p:cNvPr>
          <p:cNvSpPr txBox="1"/>
          <p:nvPr/>
        </p:nvSpPr>
        <p:spPr>
          <a:xfrm>
            <a:off x="147968" y="5441611"/>
            <a:ext cx="118960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b="0" i="0" dirty="0" err="1">
                <a:solidFill>
                  <a:srgbClr val="323130"/>
                </a:solidFill>
                <a:effectLst/>
                <a:highlight>
                  <a:srgbClr val="FFFFFF"/>
                </a:highlight>
                <a:latin typeface="Monaco" pitchFamily="2" charset="77"/>
              </a:rPr>
              <a:t>scp</a:t>
            </a:r>
            <a:r>
              <a:rPr lang="en-GB" b="0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Monaco" pitchFamily="2" charset="77"/>
              </a:rPr>
              <a:t> 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./</a:t>
            </a:r>
            <a:r>
              <a:rPr lang="en-GB" dirty="0" err="1">
                <a:solidFill>
                  <a:schemeClr val="accent3"/>
                </a:solidFill>
                <a:highlight>
                  <a:srgbClr val="FFFFFF"/>
                </a:highlight>
                <a:latin typeface="Monaco" pitchFamily="2" charset="77"/>
              </a:rPr>
              <a:t>file.txt</a:t>
            </a:r>
            <a:r>
              <a:rPr lang="en-GB" dirty="0">
                <a:solidFill>
                  <a:schemeClr val="accent3"/>
                </a:solidFill>
                <a:highlight>
                  <a:srgbClr val="FFFFFF"/>
                </a:highlight>
                <a:latin typeface="Monaco" pitchFamily="2" charset="77"/>
              </a:rPr>
              <a:t> </a:t>
            </a:r>
            <a:r>
              <a:rPr lang="en-GB" dirty="0" err="1">
                <a:highlight>
                  <a:srgbClr val="FFFFFF"/>
                </a:highlight>
                <a:latin typeface="Monaco" pitchFamily="2" charset="77"/>
              </a:rPr>
              <a:t>ada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:~/</a:t>
            </a:r>
            <a:r>
              <a:rPr lang="en-GB" dirty="0">
                <a:solidFill>
                  <a:schemeClr val="accent3"/>
                </a:solidFill>
                <a:highlight>
                  <a:srgbClr val="FFFFFF"/>
                </a:highlight>
                <a:latin typeface="Monaco" pitchFamily="2" charset="77"/>
              </a:rPr>
              <a:t>path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/</a:t>
            </a:r>
            <a:r>
              <a:rPr lang="en-GB" dirty="0">
                <a:solidFill>
                  <a:schemeClr val="accent3"/>
                </a:solidFill>
                <a:highlight>
                  <a:srgbClr val="FFFFFF"/>
                </a:highlight>
                <a:latin typeface="Monaco" pitchFamily="2" charset="77"/>
              </a:rPr>
              <a:t>to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/</a:t>
            </a:r>
            <a:r>
              <a:rPr lang="en-GB" dirty="0" err="1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Monaco" pitchFamily="2" charset="77"/>
              </a:rPr>
              <a:t>dir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/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802E61-1419-67FD-F90A-1203B26EFE29}"/>
              </a:ext>
            </a:extLst>
          </p:cNvPr>
          <p:cNvSpPr txBox="1"/>
          <p:nvPr/>
        </p:nvSpPr>
        <p:spPr>
          <a:xfrm>
            <a:off x="555215" y="992978"/>
            <a:ext cx="11896061" cy="2121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 err="1">
                <a:solidFill>
                  <a:srgbClr val="323130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s</a:t>
            </a:r>
            <a:r>
              <a:rPr lang="en-GB" b="0" i="0" dirty="0" err="1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cp</a:t>
            </a:r>
            <a:r>
              <a:rPr lang="en-GB" b="0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 = secure copy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For copying f</a:t>
            </a:r>
            <a:r>
              <a:rPr lang="en-GB" b="0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iles and directories to / from a HPC and your local machine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Always run the command from your local machine (not when you are logged in to Ada)</a:t>
            </a:r>
            <a:endParaRPr lang="en-GB" b="0" i="0" dirty="0">
              <a:solidFill>
                <a:srgbClr val="323130"/>
              </a:solidFill>
              <a:effectLst/>
              <a:highlight>
                <a:srgbClr val="FFFFFF"/>
              </a:highlight>
              <a:latin typeface="Segoe UI" panose="020B0502040204020203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Syntax for copying files:</a:t>
            </a:r>
          </a:p>
          <a:p>
            <a:pPr>
              <a:lnSpc>
                <a:spcPct val="150000"/>
              </a:lnSpc>
            </a:pPr>
            <a:r>
              <a:rPr lang="en-GB" dirty="0" err="1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s</a:t>
            </a:r>
            <a:r>
              <a:rPr lang="en-GB" b="0" i="0" dirty="0" err="1">
                <a:solidFill>
                  <a:srgbClr val="323130"/>
                </a:solidFill>
                <a:effectLst/>
                <a:highlight>
                  <a:srgbClr val="FFFFFF"/>
                </a:highlight>
                <a:latin typeface="Monaco" pitchFamily="2" charset="77"/>
              </a:rPr>
              <a:t>cp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 </a:t>
            </a:r>
            <a:r>
              <a:rPr lang="en-GB" dirty="0" err="1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Monaco" pitchFamily="2" charset="77"/>
              </a:rPr>
              <a:t>username</a:t>
            </a:r>
            <a:r>
              <a:rPr lang="en-GB" dirty="0" err="1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@</a:t>
            </a:r>
            <a:r>
              <a:rPr lang="en-GB" dirty="0" err="1">
                <a:solidFill>
                  <a:schemeClr val="accent3"/>
                </a:solidFill>
                <a:highlight>
                  <a:srgbClr val="FFFFFF"/>
                </a:highlight>
                <a:latin typeface="Monaco" pitchFamily="2" charset="77"/>
              </a:rPr>
              <a:t>remote_address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:/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Monaco" pitchFamily="2" charset="77"/>
              </a:rPr>
              <a:t>path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/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Monaco" pitchFamily="2" charset="77"/>
              </a:rPr>
              <a:t>to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/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Monaco" pitchFamily="2" charset="77"/>
              </a:rPr>
              <a:t>file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/</a:t>
            </a:r>
            <a:r>
              <a:rPr lang="en-GB" dirty="0" err="1">
                <a:solidFill>
                  <a:schemeClr val="accent3"/>
                </a:solidFill>
                <a:highlight>
                  <a:srgbClr val="FFFFFF"/>
                </a:highlight>
                <a:latin typeface="Monaco" pitchFamily="2" charset="77"/>
              </a:rPr>
              <a:t>file.txt</a:t>
            </a:r>
            <a:r>
              <a:rPr lang="en-GB" dirty="0">
                <a:solidFill>
                  <a:schemeClr val="accent3"/>
                </a:solidFill>
                <a:highlight>
                  <a:srgbClr val="FFFFFF"/>
                </a:highlight>
                <a:latin typeface="Monaco" pitchFamily="2" charset="77"/>
              </a:rPr>
              <a:t> </a:t>
            </a:r>
            <a:r>
              <a:rPr lang="en-GB" dirty="0">
                <a:highlight>
                  <a:srgbClr val="FFFFFF"/>
                </a:highlight>
                <a:latin typeface="Monaco" pitchFamily="2" charset="77"/>
              </a:rPr>
              <a:t>/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Monaco" pitchFamily="2" charset="77"/>
              </a:rPr>
              <a:t>local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/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Monaco" pitchFamily="2" charset="77"/>
              </a:rPr>
              <a:t>path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/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Monaco" pitchFamily="2" charset="77"/>
              </a:rPr>
              <a:t>to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/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Monaco" pitchFamily="2" charset="77"/>
              </a:rPr>
              <a:t>write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/</a:t>
            </a:r>
            <a:r>
              <a:rPr lang="en-GB" dirty="0">
                <a:solidFill>
                  <a:schemeClr val="accent3"/>
                </a:solidFill>
                <a:highlight>
                  <a:srgbClr val="FFFFFF"/>
                </a:highlight>
                <a:latin typeface="Monaco" pitchFamily="2" charset="77"/>
              </a:rPr>
              <a:t>to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3432216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52024-8939-F829-D332-6F441405C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3C7B03-6725-6B61-9B75-28715832B6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1999" cy="727114"/>
          </a:xfrm>
        </p:spPr>
        <p:txBody>
          <a:bodyPr>
            <a:noAutofit/>
          </a:bodyPr>
          <a:lstStyle/>
          <a:p>
            <a:r>
              <a:rPr lang="en-US" sz="3600" dirty="0" err="1"/>
              <a:t>UoN</a:t>
            </a:r>
            <a:r>
              <a:rPr lang="en-US" sz="3600" dirty="0"/>
              <a:t> HPC – Ada – moving data - directories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F74502-061D-0B13-A060-05455BF03581}"/>
              </a:ext>
            </a:extLst>
          </p:cNvPr>
          <p:cNvSpPr txBox="1"/>
          <p:nvPr/>
        </p:nvSpPr>
        <p:spPr>
          <a:xfrm>
            <a:off x="295937" y="3946900"/>
            <a:ext cx="116001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b="0" i="0" dirty="0" err="1">
                <a:solidFill>
                  <a:srgbClr val="323130"/>
                </a:solidFill>
                <a:effectLst/>
                <a:highlight>
                  <a:srgbClr val="FFFFFF"/>
                </a:highlight>
                <a:latin typeface="Monaco" pitchFamily="2" charset="77"/>
              </a:rPr>
              <a:t>scp</a:t>
            </a:r>
            <a:r>
              <a:rPr lang="en-GB" b="0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Monaco" pitchFamily="2" charset="77"/>
              </a:rPr>
              <a:t> -r </a:t>
            </a:r>
            <a:r>
              <a:rPr lang="en-GB" dirty="0" err="1">
                <a:highlight>
                  <a:srgbClr val="FFFFFF"/>
                </a:highlight>
                <a:latin typeface="Monaco" pitchFamily="2" charset="77"/>
              </a:rPr>
              <a:t>ada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:~/</a:t>
            </a:r>
            <a:r>
              <a:rPr lang="en-GB" dirty="0">
                <a:solidFill>
                  <a:schemeClr val="accent3"/>
                </a:solidFill>
                <a:highlight>
                  <a:srgbClr val="FFFFFF"/>
                </a:highlight>
                <a:latin typeface="Monaco" pitchFamily="2" charset="77"/>
              </a:rPr>
              <a:t>path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/</a:t>
            </a:r>
            <a:r>
              <a:rPr lang="en-GB" dirty="0">
                <a:solidFill>
                  <a:schemeClr val="accent3"/>
                </a:solidFill>
                <a:highlight>
                  <a:srgbClr val="FFFFFF"/>
                </a:highlight>
                <a:latin typeface="Monaco" pitchFamily="2" charset="77"/>
              </a:rPr>
              <a:t>to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/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Monaco" pitchFamily="2" charset="77"/>
              </a:rPr>
              <a:t>file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/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Monaco" pitchFamily="2" charset="77"/>
              </a:rPr>
              <a:t>directory 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./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55B966-A023-A402-BACB-CC9CC8D7E59F}"/>
              </a:ext>
            </a:extLst>
          </p:cNvPr>
          <p:cNvSpPr txBox="1"/>
          <p:nvPr/>
        </p:nvSpPr>
        <p:spPr>
          <a:xfrm>
            <a:off x="555215" y="3429000"/>
            <a:ext cx="897671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000" b="1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To copy a </a:t>
            </a:r>
            <a:r>
              <a:rPr lang="en-GB" sz="2000" b="1" dirty="0">
                <a:solidFill>
                  <a:srgbClr val="323130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directory</a:t>
            </a:r>
            <a:r>
              <a:rPr lang="en-GB" sz="2000" b="1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 from Ada to the current directory on your laptop: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BB6DAA-1727-1491-E816-9C6FE1648E52}"/>
              </a:ext>
            </a:extLst>
          </p:cNvPr>
          <p:cNvSpPr txBox="1"/>
          <p:nvPr/>
        </p:nvSpPr>
        <p:spPr>
          <a:xfrm>
            <a:off x="555216" y="5031014"/>
            <a:ext cx="950318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000" b="1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To copy a directory from the current directory on your laptop to Ada: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66CAA3-791B-A7D9-BE53-CAD4B7D582E6}"/>
              </a:ext>
            </a:extLst>
          </p:cNvPr>
          <p:cNvSpPr txBox="1"/>
          <p:nvPr/>
        </p:nvSpPr>
        <p:spPr>
          <a:xfrm>
            <a:off x="147968" y="5441611"/>
            <a:ext cx="118960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 err="1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s</a:t>
            </a:r>
            <a:r>
              <a:rPr lang="en-GB" b="0" i="0" dirty="0" err="1">
                <a:solidFill>
                  <a:srgbClr val="323130"/>
                </a:solidFill>
                <a:effectLst/>
                <a:highlight>
                  <a:srgbClr val="FFFFFF"/>
                </a:highlight>
                <a:latin typeface="Monaco" pitchFamily="2" charset="77"/>
              </a:rPr>
              <a:t>cp</a:t>
            </a:r>
            <a:r>
              <a:rPr lang="en-GB" b="0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Monaco" pitchFamily="2" charset="77"/>
              </a:rPr>
              <a:t> –r 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./</a:t>
            </a:r>
            <a:r>
              <a:rPr lang="en-GB" dirty="0">
                <a:solidFill>
                  <a:schemeClr val="accent3"/>
                </a:solidFill>
                <a:highlight>
                  <a:srgbClr val="FFFFFF"/>
                </a:highlight>
                <a:latin typeface="Monaco" pitchFamily="2" charset="77"/>
              </a:rPr>
              <a:t>directory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 </a:t>
            </a:r>
            <a:r>
              <a:rPr lang="en-GB" b="0" i="0" dirty="0" err="1">
                <a:solidFill>
                  <a:srgbClr val="323130"/>
                </a:solidFill>
                <a:effectLst/>
                <a:highlight>
                  <a:srgbClr val="FFFFFF"/>
                </a:highlight>
                <a:latin typeface="Monaco" pitchFamily="2" charset="77"/>
              </a:rPr>
              <a:t>ada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:~/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Monaco" pitchFamily="2" charset="77"/>
              </a:rPr>
              <a:t>your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/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Monaco" pitchFamily="2" charset="77"/>
              </a:rPr>
              <a:t>file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/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Monaco" pitchFamily="2" charset="77"/>
              </a:rPr>
              <a:t>path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/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DAD465-051A-25CF-8430-8A3E4ED08D8E}"/>
              </a:ext>
            </a:extLst>
          </p:cNvPr>
          <p:cNvSpPr txBox="1"/>
          <p:nvPr/>
        </p:nvSpPr>
        <p:spPr>
          <a:xfrm>
            <a:off x="555215" y="992978"/>
            <a:ext cx="11896061" cy="2121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 err="1">
                <a:solidFill>
                  <a:srgbClr val="323130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s</a:t>
            </a:r>
            <a:r>
              <a:rPr lang="en-GB" b="0" i="0" dirty="0" err="1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cp</a:t>
            </a:r>
            <a:r>
              <a:rPr lang="en-GB" b="0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 = secure copy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For copying f</a:t>
            </a:r>
            <a:r>
              <a:rPr lang="en-GB" b="0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iles and directories to / from a HPC and your local machine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Always run the command from your local machine (not when you are logged in to Ada)</a:t>
            </a:r>
            <a:endParaRPr lang="en-GB" b="0" i="0" dirty="0">
              <a:solidFill>
                <a:srgbClr val="323130"/>
              </a:solidFill>
              <a:effectLst/>
              <a:highlight>
                <a:srgbClr val="FFFFFF"/>
              </a:highlight>
              <a:latin typeface="Segoe UI" panose="020B0502040204020203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Segoe UI" panose="020B0502040204020203" pitchFamily="34" charset="0"/>
              </a:rPr>
              <a:t>Syntax for copying directories:</a:t>
            </a:r>
          </a:p>
          <a:p>
            <a:pPr>
              <a:lnSpc>
                <a:spcPct val="150000"/>
              </a:lnSpc>
            </a:pPr>
            <a:r>
              <a:rPr lang="en-GB" b="0" i="0" dirty="0" err="1">
                <a:solidFill>
                  <a:srgbClr val="323130"/>
                </a:solidFill>
                <a:effectLst/>
                <a:highlight>
                  <a:srgbClr val="FFFFFF"/>
                </a:highlight>
                <a:latin typeface="Monaco" pitchFamily="2" charset="77"/>
              </a:rPr>
              <a:t>scp</a:t>
            </a:r>
            <a:r>
              <a:rPr lang="en-GB" b="0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Monaco" pitchFamily="2" charset="77"/>
              </a:rPr>
              <a:t> -r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 </a:t>
            </a:r>
            <a:r>
              <a:rPr lang="en-GB" dirty="0" err="1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Monaco" pitchFamily="2" charset="77"/>
              </a:rPr>
              <a:t>username</a:t>
            </a:r>
            <a:r>
              <a:rPr lang="en-GB" dirty="0" err="1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@</a:t>
            </a:r>
            <a:r>
              <a:rPr lang="en-GB" dirty="0" err="1">
                <a:solidFill>
                  <a:schemeClr val="accent3"/>
                </a:solidFill>
                <a:highlight>
                  <a:srgbClr val="FFFFFF"/>
                </a:highlight>
                <a:latin typeface="Monaco" pitchFamily="2" charset="77"/>
              </a:rPr>
              <a:t>remote_address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:/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Monaco" pitchFamily="2" charset="77"/>
              </a:rPr>
              <a:t>path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/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Monaco" pitchFamily="2" charset="77"/>
              </a:rPr>
              <a:t>to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/</a:t>
            </a:r>
            <a:r>
              <a:rPr lang="en-GB" dirty="0" err="1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Monaco" pitchFamily="2" charset="77"/>
              </a:rPr>
              <a:t>dir</a:t>
            </a:r>
            <a:r>
              <a:rPr lang="en-GB" dirty="0">
                <a:solidFill>
                  <a:schemeClr val="accent3"/>
                </a:solidFill>
                <a:highlight>
                  <a:srgbClr val="FFFFFF"/>
                </a:highlight>
                <a:latin typeface="Monaco" pitchFamily="2" charset="77"/>
              </a:rPr>
              <a:t> </a:t>
            </a:r>
            <a:r>
              <a:rPr lang="en-GB" dirty="0">
                <a:highlight>
                  <a:srgbClr val="FFFFFF"/>
                </a:highlight>
                <a:latin typeface="Monaco" pitchFamily="2" charset="77"/>
              </a:rPr>
              <a:t>/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Monaco" pitchFamily="2" charset="77"/>
              </a:rPr>
              <a:t>local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/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Monaco" pitchFamily="2" charset="77"/>
              </a:rPr>
              <a:t>path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/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Monaco" pitchFamily="2" charset="77"/>
              </a:rPr>
              <a:t>to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/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Monaco" pitchFamily="2" charset="77"/>
              </a:rPr>
              <a:t>write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/</a:t>
            </a:r>
            <a:r>
              <a:rPr lang="en-GB" dirty="0">
                <a:solidFill>
                  <a:schemeClr val="accent3"/>
                </a:solidFill>
                <a:highlight>
                  <a:srgbClr val="FFFFFF"/>
                </a:highlight>
                <a:latin typeface="Monaco" pitchFamily="2" charset="77"/>
              </a:rPr>
              <a:t>to</a:t>
            </a:r>
            <a:r>
              <a:rPr lang="en-GB" dirty="0">
                <a:solidFill>
                  <a:srgbClr val="323130"/>
                </a:solidFill>
                <a:highlight>
                  <a:srgbClr val="FFFFFF"/>
                </a:highlight>
                <a:latin typeface="Monaco" pitchFamily="2" charset="77"/>
              </a:rPr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18144152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8B20D8B-6BDD-B027-76F9-356287EF4930}"/>
              </a:ext>
            </a:extLst>
          </p:cNvPr>
          <p:cNvSpPr txBox="1">
            <a:spLocks/>
          </p:cNvSpPr>
          <p:nvPr/>
        </p:nvSpPr>
        <p:spPr>
          <a:xfrm>
            <a:off x="1520327" y="187287"/>
            <a:ext cx="9144000" cy="5574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 dirty="0" err="1"/>
              <a:t>UoN</a:t>
            </a:r>
            <a:r>
              <a:rPr lang="en-US" sz="3600" dirty="0"/>
              <a:t> HPC – Ada – support &amp; information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8DC056-10AC-40A1-4F48-3426EDC77E3E}"/>
              </a:ext>
            </a:extLst>
          </p:cNvPr>
          <p:cNvSpPr txBox="1"/>
          <p:nvPr/>
        </p:nvSpPr>
        <p:spPr>
          <a:xfrm>
            <a:off x="156073" y="1260255"/>
            <a:ext cx="11887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Commands, partitions and resources:</a:t>
            </a:r>
          </a:p>
          <a:p>
            <a:r>
              <a:rPr lang="en-US" dirty="0">
                <a:solidFill>
                  <a:schemeClr val="tx2"/>
                </a:solidFill>
                <a:hlinkClick r:id="rId3"/>
              </a:rPr>
              <a:t>https://uniofnottm.sharepoint.com/sites/DigitalResearch/SitePages/Ada-Commands-Partitions-and-Resources.aspx</a:t>
            </a:r>
            <a:endParaRPr lang="en-US" dirty="0">
              <a:solidFill>
                <a:schemeClr val="tx2"/>
              </a:solidFill>
            </a:endParaRPr>
          </a:p>
          <a:p>
            <a:endParaRPr lang="en-US" dirty="0">
              <a:solidFill>
                <a:schemeClr val="tx2"/>
              </a:solidFill>
            </a:endParaRPr>
          </a:p>
          <a:p>
            <a:r>
              <a:rPr lang="en-US" dirty="0">
                <a:solidFill>
                  <a:schemeClr val="tx2"/>
                </a:solidFill>
              </a:rPr>
              <a:t>Software modules:</a:t>
            </a:r>
          </a:p>
          <a:p>
            <a:r>
              <a:rPr lang="en-US" dirty="0">
                <a:solidFill>
                  <a:schemeClr val="tx2"/>
                </a:solidFill>
                <a:hlinkClick r:id="rId4"/>
              </a:rPr>
              <a:t>https://uniofnottm.sharepoint.com/sites/DigitalResearch/SitePages/Ada-Compute-software.aspx</a:t>
            </a:r>
            <a:endParaRPr lang="en-US" dirty="0">
              <a:solidFill>
                <a:schemeClr val="tx2"/>
              </a:solidFill>
            </a:endParaRPr>
          </a:p>
          <a:p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43B65B-B1BB-6242-F6F3-14AF5903B12C}"/>
              </a:ext>
            </a:extLst>
          </p:cNvPr>
          <p:cNvSpPr txBox="1"/>
          <p:nvPr/>
        </p:nvSpPr>
        <p:spPr>
          <a:xfrm>
            <a:off x="148727" y="874673"/>
            <a:ext cx="27459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b="1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The </a:t>
            </a:r>
            <a:r>
              <a:rPr lang="en-GB" b="1" i="0" dirty="0" err="1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sharepoint</a:t>
            </a:r>
            <a:r>
              <a:rPr lang="en-GB" b="1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 site:</a:t>
            </a:r>
            <a:endParaRPr lang="en-GB" b="0" i="0" dirty="0">
              <a:solidFill>
                <a:srgbClr val="323130"/>
              </a:solidFill>
              <a:effectLst/>
              <a:highlight>
                <a:srgbClr val="FFFFFF"/>
              </a:highlight>
              <a:latin typeface="Segoe U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C89EC8-F7D7-F2C8-46B8-422186E81126}"/>
              </a:ext>
            </a:extLst>
          </p:cNvPr>
          <p:cNvSpPr txBox="1"/>
          <p:nvPr/>
        </p:nvSpPr>
        <p:spPr>
          <a:xfrm>
            <a:off x="184451" y="3681586"/>
            <a:ext cx="116758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b="1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The IT helpdesk: (if you need something that requires admin rights, this is your only option!)</a:t>
            </a:r>
            <a:endParaRPr lang="en-GB" b="0" i="0" dirty="0">
              <a:solidFill>
                <a:srgbClr val="323130"/>
              </a:solidFill>
              <a:effectLst/>
              <a:highlight>
                <a:srgbClr val="FFFFFF"/>
              </a:highlight>
              <a:latin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489B18-306F-1FB4-ACA3-0425001B697D}"/>
              </a:ext>
            </a:extLst>
          </p:cNvPr>
          <p:cNvSpPr txBox="1"/>
          <p:nvPr/>
        </p:nvSpPr>
        <p:spPr>
          <a:xfrm>
            <a:off x="184451" y="5349399"/>
            <a:ext cx="65467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b="1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Me! : </a:t>
            </a:r>
            <a:r>
              <a:rPr lang="en-GB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  <a:hlinkClick r:id="rId5"/>
              </a:rPr>
              <a:t>laura.dean@nottingham.ac.uk</a:t>
            </a:r>
            <a:r>
              <a:rPr lang="en-GB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Segoe UI" panose="020B0502040204020203" pitchFamily="34" charset="0"/>
              </a:rPr>
              <a:t> or teams chat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EDDB11-FC1B-815F-FAA2-102F194500DF}"/>
              </a:ext>
            </a:extLst>
          </p:cNvPr>
          <p:cNvSpPr txBox="1"/>
          <p:nvPr/>
        </p:nvSpPr>
        <p:spPr>
          <a:xfrm>
            <a:off x="148727" y="4108602"/>
            <a:ext cx="9907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tx2"/>
                </a:solidFill>
                <a:hlinkClick r:id="rId6"/>
              </a:rPr>
              <a:t>https://www.nottingham.ac.uk/dts/help/self-service-portal/self-service-portal.aspx</a:t>
            </a:r>
            <a:endParaRPr lang="en-US" dirty="0">
              <a:solidFill>
                <a:schemeClr val="tx2"/>
              </a:solidFill>
            </a:endParaRPr>
          </a:p>
          <a:p>
            <a:endParaRPr lang="en-US" dirty="0">
              <a:solidFill>
                <a:schemeClr val="tx2"/>
              </a:solidFill>
            </a:endParaRPr>
          </a:p>
        </p:txBody>
      </p:sp>
      <p:pic>
        <p:nvPicPr>
          <p:cNvPr id="4098" name="Picture 2" descr="sign-with-the-word-help-in-a-hand-icon-vector-9381725">
            <a:extLst>
              <a:ext uri="{FF2B5EF4-FFF2-40B4-BE49-F238E27FC236}">
                <a16:creationId xmlns:a16="http://schemas.microsoft.com/office/drawing/2014/main" id="{5ED5F88D-1D28-AA08-EC11-D3ADFCAF14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74305" y="4766750"/>
            <a:ext cx="1724585" cy="1903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72500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AEE950D-FE57-793A-4E41-862F4A758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B335F1FB-FD80-EFE0-1EFF-384659ADC026}"/>
              </a:ext>
            </a:extLst>
          </p:cNvPr>
          <p:cNvSpPr txBox="1">
            <a:spLocks/>
          </p:cNvSpPr>
          <p:nvPr/>
        </p:nvSpPr>
        <p:spPr>
          <a:xfrm>
            <a:off x="1520327" y="212654"/>
            <a:ext cx="9144000" cy="55744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 err="1"/>
              <a:t>UoN</a:t>
            </a:r>
            <a:r>
              <a:rPr lang="en-US" sz="3600" dirty="0"/>
              <a:t> HPC – Ada – SLURM commands: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FA59125-AD14-5EFE-2C0F-69F2C8AFDA6E}"/>
              </a:ext>
            </a:extLst>
          </p:cNvPr>
          <p:cNvGrpSpPr/>
          <p:nvPr/>
        </p:nvGrpSpPr>
        <p:grpSpPr>
          <a:xfrm>
            <a:off x="-3673" y="2135582"/>
            <a:ext cx="12192000" cy="1477780"/>
            <a:chOff x="0" y="5169725"/>
            <a:chExt cx="12192000" cy="147778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DB20F66-01D9-11C4-94FB-D410891F255E}"/>
                </a:ext>
              </a:extLst>
            </p:cNvPr>
            <p:cNvSpPr txBox="1"/>
            <p:nvPr/>
          </p:nvSpPr>
          <p:spPr>
            <a:xfrm>
              <a:off x="178094" y="5169725"/>
              <a:ext cx="7705141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GB" sz="1800" b="1" dirty="0">
                  <a:solidFill>
                    <a:srgbClr val="323130"/>
                  </a:solidFill>
                  <a:highlight>
                    <a:srgbClr val="FFFFFF"/>
                  </a:highlight>
                  <a:latin typeface="Segoe UI" panose="020B0502040204020203" pitchFamily="34" charset="0"/>
                </a:rPr>
                <a:t>Check your storage:</a:t>
              </a:r>
            </a:p>
            <a:p>
              <a:pPr algn="l"/>
              <a:r>
                <a:rPr lang="en-GB" sz="1800" dirty="0" err="1">
                  <a:solidFill>
                    <a:srgbClr val="323130"/>
                  </a:solidFill>
                  <a:highlight>
                    <a:srgbClr val="FFFFFF"/>
                  </a:highlight>
                  <a:latin typeface="Monaco" pitchFamily="2" charset="77"/>
                </a:rPr>
                <a:t>mmlsquota</a:t>
              </a:r>
              <a:r>
                <a:rPr lang="en-GB" sz="1800" dirty="0">
                  <a:solidFill>
                    <a:srgbClr val="323130"/>
                  </a:solidFill>
                  <a:highlight>
                    <a:srgbClr val="FFFFFF"/>
                  </a:highlight>
                  <a:latin typeface="Monaco" pitchFamily="2" charset="77"/>
                </a:rPr>
                <a:t> -u </a:t>
              </a:r>
              <a:r>
                <a:rPr lang="en-GB" sz="1800" dirty="0">
                  <a:solidFill>
                    <a:schemeClr val="accent6">
                      <a:lumMod val="75000"/>
                    </a:schemeClr>
                  </a:solidFill>
                  <a:highlight>
                    <a:srgbClr val="FFFFFF"/>
                  </a:highlight>
                  <a:latin typeface="Monaco" pitchFamily="2" charset="77"/>
                </a:rPr>
                <a:t>username</a:t>
              </a:r>
              <a:r>
                <a:rPr lang="en-GB" sz="1800" dirty="0">
                  <a:solidFill>
                    <a:srgbClr val="323130"/>
                  </a:solidFill>
                  <a:highlight>
                    <a:srgbClr val="FFFFFF"/>
                  </a:highlight>
                  <a:latin typeface="Monaco" pitchFamily="2" charset="77"/>
                </a:rPr>
                <a:t> --block-size G dss2fs01:HOME</a:t>
              </a:r>
              <a:endParaRPr lang="en-GB" sz="1800" b="0" i="0" dirty="0">
                <a:solidFill>
                  <a:srgbClr val="323130"/>
                </a:solidFill>
                <a:effectLst/>
                <a:highlight>
                  <a:srgbClr val="FFFFFF"/>
                </a:highlight>
                <a:latin typeface="Monaco" pitchFamily="2" charset="77"/>
              </a:endParaRPr>
            </a:p>
          </p:txBody>
        </p:sp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8BF8E900-C22A-BA1B-362E-810CCA0D2AF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5885101"/>
              <a:ext cx="12192000" cy="700323"/>
            </a:xfrm>
            <a:prstGeom prst="rect">
              <a:avLst/>
            </a:prstGeom>
          </p:spPr>
        </p:pic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094CE890-8AC2-4C13-9FEC-11ECB8AFA5EE}"/>
                </a:ext>
              </a:extLst>
            </p:cNvPr>
            <p:cNvSpPr/>
            <p:nvPr/>
          </p:nvSpPr>
          <p:spPr>
            <a:xfrm>
              <a:off x="2981440" y="6195814"/>
              <a:ext cx="871870" cy="451691"/>
            </a:xfrm>
            <a:prstGeom prst="ellipse">
              <a:avLst/>
            </a:prstGeom>
            <a:noFill/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D64D4C5F-31DF-D79A-9011-60B49F3D2261}"/>
                </a:ext>
              </a:extLst>
            </p:cNvPr>
            <p:cNvSpPr/>
            <p:nvPr/>
          </p:nvSpPr>
          <p:spPr>
            <a:xfrm>
              <a:off x="4866947" y="6171699"/>
              <a:ext cx="871870" cy="451691"/>
            </a:xfrm>
            <a:prstGeom prst="ellipse">
              <a:avLst/>
            </a:prstGeom>
            <a:noFill/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033251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18083</TotalTime>
  <Words>5435</Words>
  <Application>Microsoft Macintosh PowerPoint</Application>
  <PresentationFormat>Widescreen</PresentationFormat>
  <Paragraphs>672</Paragraphs>
  <Slides>40</Slides>
  <Notes>38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8" baseType="lpstr">
      <vt:lpstr>Aptos</vt:lpstr>
      <vt:lpstr>Aptos Display</vt:lpstr>
      <vt:lpstr>Aptos Mono</vt:lpstr>
      <vt:lpstr>Arial</vt:lpstr>
      <vt:lpstr>Calibri</vt:lpstr>
      <vt:lpstr>Monaco</vt:lpstr>
      <vt:lpstr>Segoe UI</vt:lpstr>
      <vt:lpstr>Office Theme</vt:lpstr>
      <vt:lpstr>How to use the UoN HPC “Ada”</vt:lpstr>
      <vt:lpstr>First lets all get logged in and pull the github repo to Ada</vt:lpstr>
      <vt:lpstr>Learning Objectives</vt:lpstr>
      <vt:lpstr>PowerPoint Presentation</vt:lpstr>
      <vt:lpstr>How to use Ada</vt:lpstr>
      <vt:lpstr>Every job needs a job submission script:</vt:lpstr>
      <vt:lpstr>Every job needs a job submission script:</vt:lpstr>
      <vt:lpstr>Every job needs a job submission script:</vt:lpstr>
      <vt:lpstr>Every job needs a job submission script:</vt:lpstr>
      <vt:lpstr>Every job needs a job submission script:</vt:lpstr>
      <vt:lpstr>Every job needs a job submission script:</vt:lpstr>
      <vt:lpstr>Every job needs a job submission script:</vt:lpstr>
      <vt:lpstr>Every job needs a job submission script:</vt:lpstr>
      <vt:lpstr>Every job needs a job submission script:</vt:lpstr>
      <vt:lpstr>Every job needs a job submission script:</vt:lpstr>
      <vt:lpstr>Every job needs a job submission script:</vt:lpstr>
      <vt:lpstr>Every job needs a job submission script:</vt:lpstr>
      <vt:lpstr>Every job needs a job submission script:</vt:lpstr>
      <vt:lpstr>Write your own:</vt:lpstr>
      <vt:lpstr>PowerPoint Presentation</vt:lpstr>
      <vt:lpstr>How to submit and monitor your script:</vt:lpstr>
      <vt:lpstr>UoN HPC – Ada – ‘reasonlist’ for pending jobs</vt:lpstr>
      <vt:lpstr>How to use Ada</vt:lpstr>
      <vt:lpstr>Using srun for an interactive session</vt:lpstr>
      <vt:lpstr>How to use Ada</vt:lpstr>
      <vt:lpstr>OpenOnDemand</vt:lpstr>
      <vt:lpstr>Partitions on Ada:</vt:lpstr>
      <vt:lpstr>UoN HPC – Ada – partitions:</vt:lpstr>
      <vt:lpstr>PowerPoint Presentation</vt:lpstr>
      <vt:lpstr>UoN HPC – Ada – software modules</vt:lpstr>
      <vt:lpstr>UoN HPC – Ada – software modules</vt:lpstr>
      <vt:lpstr>Using software modules in a job submission script</vt:lpstr>
      <vt:lpstr> requesting new software modules</vt:lpstr>
      <vt:lpstr> requesting new software modules</vt:lpstr>
      <vt:lpstr>UoN HPC – Ada – conda</vt:lpstr>
      <vt:lpstr>EXAMPLE: using conda in a job submission script</vt:lpstr>
      <vt:lpstr>UoN HPC – Ada – moving data - files</vt:lpstr>
      <vt:lpstr>UoN HPC – Ada – moving data - directories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UoN HPC – Ada – info</dc:title>
  <dc:creator>Laura Dean (staff)</dc:creator>
  <cp:lastModifiedBy>Laura Dean (staff)</cp:lastModifiedBy>
  <cp:revision>2</cp:revision>
  <dcterms:created xsi:type="dcterms:W3CDTF">2024-04-22T13:40:25Z</dcterms:created>
  <dcterms:modified xsi:type="dcterms:W3CDTF">2025-10-09T09:21:23Z</dcterms:modified>
</cp:coreProperties>
</file>